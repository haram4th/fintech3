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60" r:id="rId1"/>
  </p:sldMasterIdLst>
  <p:sldIdLst>
    <p:sldId id="256" r:id="rId2"/>
    <p:sldId id="257" r:id="rId3"/>
    <p:sldId id="274" r:id="rId4"/>
    <p:sldId id="258" r:id="rId5"/>
    <p:sldId id="266" r:id="rId6"/>
    <p:sldId id="259" r:id="rId7"/>
    <p:sldId id="267" r:id="rId8"/>
    <p:sldId id="260" r:id="rId9"/>
    <p:sldId id="268" r:id="rId10"/>
    <p:sldId id="269" r:id="rId11"/>
    <p:sldId id="261" r:id="rId12"/>
    <p:sldId id="270" r:id="rId13"/>
    <p:sldId id="262" r:id="rId14"/>
    <p:sldId id="271" r:id="rId15"/>
    <p:sldId id="272" r:id="rId16"/>
    <p:sldId id="273" r:id="rId17"/>
    <p:sldId id="263" r:id="rId18"/>
    <p:sldId id="264" r:id="rId19"/>
    <p:sldId id="265" r:id="rId20"/>
    <p:sldId id="276" r:id="rId21"/>
    <p:sldId id="275" r:id="rId22"/>
    <p:sldId id="277" r:id="rId23"/>
    <p:sldId id="278" r:id="rId24"/>
    <p:sldId id="279" r:id="rId25"/>
    <p:sldId id="281" r:id="rId26"/>
    <p:sldId id="280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-1512" y="-112"/>
      </p:cViewPr>
      <p:guideLst>
        <p:guide orient="horz" pos="2157"/>
        <p:guide pos="383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slide" Target="slides/slide15.xml"  /><Relationship Id="rId17" Type="http://schemas.openxmlformats.org/officeDocument/2006/relationships/slide" Target="slides/slide16.xml"  /><Relationship Id="rId18" Type="http://schemas.openxmlformats.org/officeDocument/2006/relationships/slide" Target="slides/slide17.xml"  /><Relationship Id="rId19" Type="http://schemas.openxmlformats.org/officeDocument/2006/relationships/slide" Target="slides/slide18.xml"  /><Relationship Id="rId2" Type="http://schemas.openxmlformats.org/officeDocument/2006/relationships/slide" Target="slides/slide1.xml"  /><Relationship Id="rId20" Type="http://schemas.openxmlformats.org/officeDocument/2006/relationships/slide" Target="slides/slide19.xml"  /><Relationship Id="rId21" Type="http://schemas.openxmlformats.org/officeDocument/2006/relationships/slide" Target="slides/slide20.xml"  /><Relationship Id="rId22" Type="http://schemas.openxmlformats.org/officeDocument/2006/relationships/slide" Target="slides/slide21.xml"  /><Relationship Id="rId23" Type="http://schemas.openxmlformats.org/officeDocument/2006/relationships/slide" Target="slides/slide22.xml"  /><Relationship Id="rId24" Type="http://schemas.openxmlformats.org/officeDocument/2006/relationships/slide" Target="slides/slide23.xml"  /><Relationship Id="rId25" Type="http://schemas.openxmlformats.org/officeDocument/2006/relationships/slide" Target="slides/slide24.xml"  /><Relationship Id="rId26" Type="http://schemas.openxmlformats.org/officeDocument/2006/relationships/slide" Target="slides/slide25.xml"  /><Relationship Id="rId27" Type="http://schemas.openxmlformats.org/officeDocument/2006/relationships/slide" Target="slides/slide26.xml"  /><Relationship Id="rId28" Type="http://schemas.openxmlformats.org/officeDocument/2006/relationships/presProps" Target="presProps.xml"  /><Relationship Id="rId29" Type="http://schemas.openxmlformats.org/officeDocument/2006/relationships/viewProps" Target="viewProps.xml"  /><Relationship Id="rId3" Type="http://schemas.openxmlformats.org/officeDocument/2006/relationships/slide" Target="slides/slide2.xml"  /><Relationship Id="rId30" Type="http://schemas.openxmlformats.org/officeDocument/2006/relationships/theme" Target="theme/theme1.xml"  /><Relationship Id="rId31" Type="http://schemas.openxmlformats.org/officeDocument/2006/relationships/tableStyles" Target="tableStyles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1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/>
          <p:nvPr/>
        </p:nvSpPr>
        <p:spPr>
          <a:xfrm>
            <a:off x="-12699" y="3631"/>
            <a:ext cx="1247479" cy="4425873"/>
          </a:xfrm>
          <a:custGeom>
            <a:avLst/>
            <a:gdLst/>
            <a:cxnLst>
              <a:cxn ang="0">
                <a:pos x="0" y="0"/>
              </a:cxn>
              <a:cxn ang="0">
                <a:pos x="0" y="708"/>
              </a:cxn>
              <a:cxn ang="0">
                <a:pos x="986" y="7114"/>
              </a:cxn>
              <a:cxn ang="0">
                <a:pos x="1537" y="7266"/>
              </a:cxn>
              <a:cxn ang="0">
                <a:pos x="62" y="0"/>
              </a:cxn>
              <a:cxn ang="0">
                <a:pos x="0" y="0"/>
              </a:cxn>
            </a:cxnLst>
            <a:rect l="0" t="0" r="r" b="b"/>
            <a:pathLst>
              <a:path w="1537" h="7266">
                <a:moveTo>
                  <a:pt x="0" y="0"/>
                </a:moveTo>
                <a:lnTo>
                  <a:pt x="0" y="708"/>
                </a:lnTo>
                <a:lnTo>
                  <a:pt x="986" y="7114"/>
                </a:lnTo>
                <a:lnTo>
                  <a:pt x="1537" y="7266"/>
                </a:lnTo>
                <a:lnTo>
                  <a:pt x="62" y="0"/>
                </a:lnTo>
                <a:lnTo>
                  <a:pt x="0" y="0"/>
                </a:lnTo>
              </a:path>
            </a:pathLst>
          </a:custGeom>
          <a:noFill/>
          <a:ln w="9525">
            <a:noFill/>
            <a:round/>
          </a:ln>
        </p:spPr>
        <p:txBody>
          <a:bodyPr anchor="ctr"/>
          <a:p>
            <a:pPr lvl="0" algn="ctr">
              <a:defRPr lang="ko-KR" altLang="en-US"/>
            </a:pPr>
            <a:endParaRPr lang="en-US" altLang="ko-KR"/>
          </a:p>
        </p:txBody>
      </p:sp>
      <p:sp>
        <p:nvSpPr>
          <p:cNvPr id="9" name=""/>
          <p:cNvSpPr/>
          <p:nvPr/>
        </p:nvSpPr>
        <p:spPr>
          <a:xfrm flipH="1">
            <a:off x="7307082" y="211889"/>
            <a:ext cx="4883131" cy="1609272"/>
          </a:xfrm>
          <a:custGeom>
            <a:avLst/>
            <a:gdLst>
              <a:gd name="connsiteX0" fmla="*/ 0 w 2715"/>
              <a:gd name="connsiteY0" fmla="*/ 0 h 1458"/>
              <a:gd name="connsiteX1" fmla="*/ 0 w 2715"/>
              <a:gd name="connsiteY1" fmla="*/ 1458 h 1458"/>
              <a:gd name="connsiteX2" fmla="*/ 2715 w 2715"/>
              <a:gd name="connsiteY2" fmla="*/ 909 h 1458"/>
              <a:gd name="connsiteX3" fmla="*/ 0 w 2715"/>
              <a:gd name="connsiteY3" fmla="*/ 0 h 1458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5" h="1458">
                <a:moveTo>
                  <a:pt x="0" y="0"/>
                </a:moveTo>
                <a:lnTo>
                  <a:pt x="0" y="1458"/>
                </a:lnTo>
                <a:lnTo>
                  <a:pt x="2715" y="909"/>
                </a:lnTo>
                <a:lnTo>
                  <a:pt x="0" y="0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9525">
            <a:noFill/>
            <a:round/>
          </a:ln>
        </p:spPr>
        <p:txBody>
          <a:bodyPr anchor="ctr"/>
          <a:p>
            <a:pPr lvl="0" algn="ctr">
              <a:defRPr lang="ko-KR" altLang="en-US"/>
            </a:pPr>
            <a:endParaRPr lang="en-US" altLang="ko-KR"/>
          </a:p>
        </p:txBody>
      </p:sp>
      <p:sp>
        <p:nvSpPr>
          <p:cNvPr id="10" name=""/>
          <p:cNvSpPr/>
          <p:nvPr/>
        </p:nvSpPr>
        <p:spPr>
          <a:xfrm flipH="1">
            <a:off x="1176" y="0"/>
            <a:ext cx="12196229" cy="1209811"/>
          </a:xfrm>
          <a:custGeom>
            <a:avLst/>
            <a:gdLst>
              <a:gd name="connsiteX0" fmla="*/ 6774 w 6774"/>
              <a:gd name="connsiteY0" fmla="*/ 0 h 1097"/>
              <a:gd name="connsiteX1" fmla="*/ 0 w 6774"/>
              <a:gd name="connsiteY1" fmla="*/ 0 h 1097"/>
              <a:gd name="connsiteX2" fmla="*/ 0 w 6774"/>
              <a:gd name="connsiteY2" fmla="*/ 194 h 1097"/>
              <a:gd name="connsiteX3" fmla="*/ 2700 w 6774"/>
              <a:gd name="connsiteY3" fmla="*/ 1097 h 1097"/>
              <a:gd name="connsiteX4" fmla="*/ 6774 w 6774"/>
              <a:gd name="connsiteY4" fmla="*/ 282 h 1097"/>
              <a:gd name="connsiteX5" fmla="*/ 6774 w 6774"/>
              <a:gd name="connsiteY5" fmla="*/ 0 h 1097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74" h="1097">
                <a:moveTo>
                  <a:pt x="6774" y="0"/>
                </a:moveTo>
                <a:lnTo>
                  <a:pt x="0" y="0"/>
                </a:lnTo>
                <a:lnTo>
                  <a:pt x="0" y="194"/>
                </a:lnTo>
                <a:lnTo>
                  <a:pt x="2700" y="1097"/>
                </a:lnTo>
                <a:lnTo>
                  <a:pt x="6774" y="282"/>
                </a:lnTo>
                <a:lnTo>
                  <a:pt x="6774" y="0"/>
                </a:lnTo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9525">
            <a:noFill/>
            <a:round/>
          </a:ln>
        </p:spPr>
        <p:txBody>
          <a:bodyPr anchor="ctr"/>
          <a:p>
            <a:pPr lvl="0" algn="ctr">
              <a:defRPr lang="ko-KR" altLang="en-US"/>
            </a:pPr>
            <a:endParaRPr lang="en-US" altLang="ko-KR"/>
          </a:p>
        </p:txBody>
      </p:sp>
      <p:sp>
        <p:nvSpPr>
          <p:cNvPr id="11" name=""/>
          <p:cNvSpPr/>
          <p:nvPr/>
        </p:nvSpPr>
        <p:spPr>
          <a:xfrm>
            <a:off x="0" y="313097"/>
            <a:ext cx="7315199" cy="2039450"/>
          </a:xfrm>
          <a:custGeom>
            <a:avLst/>
            <a:gdLst>
              <a:gd name="connsiteX0" fmla="*/ 5486400 w 5486400"/>
              <a:gd name="connsiteY0" fmla="*/ 1085850 h 2571750"/>
              <a:gd name="connsiteX1" fmla="*/ 0 w 5486400"/>
              <a:gd name="connsiteY1" fmla="*/ 0 h 2571750"/>
              <a:gd name="connsiteX2" fmla="*/ 0 w 5486400"/>
              <a:gd name="connsiteY2" fmla="*/ 95250 h 2571750"/>
              <a:gd name="connsiteX3" fmla="*/ 923925 w 5486400"/>
              <a:gd name="connsiteY3" fmla="*/ 2571750 h 2571750"/>
              <a:gd name="connsiteX4" fmla="*/ 5486400 w 5486400"/>
              <a:gd name="connsiteY4" fmla="*/ 1085850 h 2571750"/>
              <a:gd name="connsiteX0" fmla="*/ 5486400 w 5486400"/>
              <a:gd name="connsiteY0" fmla="*/ 1085850 h 2676075"/>
              <a:gd name="connsiteX1" fmla="*/ 0 w 5486400"/>
              <a:gd name="connsiteY1" fmla="*/ 0 h 2676075"/>
              <a:gd name="connsiteX2" fmla="*/ 0 w 5486400"/>
              <a:gd name="connsiteY2" fmla="*/ 95250 h 2676075"/>
              <a:gd name="connsiteX3" fmla="*/ 604863 w 5486400"/>
              <a:gd name="connsiteY3" fmla="*/ 2676075 h 2676075"/>
              <a:gd name="connsiteX4" fmla="*/ 5486400 w 5486400"/>
              <a:gd name="connsiteY4" fmla="*/ 1085850 h 2676075"/>
              <a:gd name="connsiteX0" fmla="*/ 5486400 w 5486400"/>
              <a:gd name="connsiteY0" fmla="*/ 1085850 h 2582198"/>
              <a:gd name="connsiteX1" fmla="*/ 0 w 5486400"/>
              <a:gd name="connsiteY1" fmla="*/ 0 h 2582198"/>
              <a:gd name="connsiteX2" fmla="*/ 0 w 5486400"/>
              <a:gd name="connsiteY2" fmla="*/ 95250 h 2582198"/>
              <a:gd name="connsiteX3" fmla="*/ 892927 w 5486400"/>
              <a:gd name="connsiteY3" fmla="*/ 2582198 h 2582198"/>
              <a:gd name="connsiteX4" fmla="*/ 5486400 w 5486400"/>
              <a:gd name="connsiteY4" fmla="*/ 1085850 h 2582198"/>
              <a:gd name="connsiteX0" fmla="*/ 5486400 w 5486400"/>
              <a:gd name="connsiteY0" fmla="*/ 1085850 h 2582198"/>
              <a:gd name="connsiteX1" fmla="*/ 0 w 5486400"/>
              <a:gd name="connsiteY1" fmla="*/ 0 h 2582198"/>
              <a:gd name="connsiteX2" fmla="*/ 892927 w 5486400"/>
              <a:gd name="connsiteY2" fmla="*/ 2582198 h 2582198"/>
              <a:gd name="connsiteX3" fmla="*/ 5486400 w 5486400"/>
              <a:gd name="connsiteY3" fmla="*/ 1085850 h 2582198"/>
              <a:gd name="connsiteX0" fmla="*/ 5486400 w 5486400"/>
              <a:gd name="connsiteY0" fmla="*/ 1085850 h 2481754"/>
              <a:gd name="connsiteX1" fmla="*/ 0 w 5486400"/>
              <a:gd name="connsiteY1" fmla="*/ 0 h 2481754"/>
              <a:gd name="connsiteX2" fmla="*/ 870728 w 5486400"/>
              <a:gd name="connsiteY2" fmla="*/ 2481754 h 2481754"/>
              <a:gd name="connsiteX3" fmla="*/ 5486400 w 5486400"/>
              <a:gd name="connsiteY3" fmla="*/ 1085850 h 2481754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86400" h="2481754">
                <a:moveTo>
                  <a:pt x="5486400" y="1085850"/>
                </a:moveTo>
                <a:lnTo>
                  <a:pt x="0" y="0"/>
                </a:lnTo>
                <a:lnTo>
                  <a:pt x="870728" y="2481754"/>
                </a:lnTo>
                <a:lnTo>
                  <a:pt x="5486400" y="1085850"/>
                </a:lnTo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 lang="ko-KR" altLang="en-US"/>
            </a:pPr>
            <a:endParaRPr lang="en-US" altLang="ko-KR"/>
          </a:p>
        </p:txBody>
      </p:sp>
      <p:sp>
        <p:nvSpPr>
          <p:cNvPr id="12" name=""/>
          <p:cNvSpPr/>
          <p:nvPr/>
        </p:nvSpPr>
        <p:spPr>
          <a:xfrm rot="16200000" flipH="1">
            <a:off x="-469153" y="661849"/>
            <a:ext cx="2747768" cy="1432205"/>
          </a:xfrm>
          <a:custGeom>
            <a:avLst/>
            <a:gdLst>
              <a:gd name="connsiteX0" fmla="*/ 0 w 2715"/>
              <a:gd name="connsiteY0" fmla="*/ 0 h 1458"/>
              <a:gd name="connsiteX1" fmla="*/ 0 w 2715"/>
              <a:gd name="connsiteY1" fmla="*/ 1458 h 1458"/>
              <a:gd name="connsiteX2" fmla="*/ 2715 w 2715"/>
              <a:gd name="connsiteY2" fmla="*/ 909 h 1458"/>
              <a:gd name="connsiteX3" fmla="*/ 0 w 2715"/>
              <a:gd name="connsiteY3" fmla="*/ 0 h 1458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5" h="1458">
                <a:moveTo>
                  <a:pt x="0" y="0"/>
                </a:moveTo>
                <a:lnTo>
                  <a:pt x="0" y="1458"/>
                </a:lnTo>
                <a:lnTo>
                  <a:pt x="2715" y="909"/>
                </a:lnTo>
                <a:lnTo>
                  <a:pt x="0" y="0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9525">
            <a:noFill/>
            <a:round/>
          </a:ln>
        </p:spPr>
        <p:txBody>
          <a:bodyPr anchor="ctr"/>
          <a:p>
            <a:pPr lvl="0" algn="ctr">
              <a:defRPr lang="ko-KR" altLang="en-US"/>
            </a:pPr>
            <a:endParaRPr lang="en-US" altLang="ko-KR"/>
          </a:p>
        </p:txBody>
      </p:sp>
      <p:sp>
        <p:nvSpPr>
          <p:cNvPr id="13" name=""/>
          <p:cNvSpPr/>
          <p:nvPr/>
        </p:nvSpPr>
        <p:spPr>
          <a:xfrm rot="16200000" flipH="1">
            <a:off x="-2892959" y="2893114"/>
            <a:ext cx="6862892" cy="1076695"/>
          </a:xfrm>
          <a:custGeom>
            <a:avLst/>
            <a:gdLst>
              <a:gd name="connsiteX0" fmla="*/ 6774 w 6774"/>
              <a:gd name="connsiteY0" fmla="*/ 0 h 1097"/>
              <a:gd name="connsiteX1" fmla="*/ 0 w 6774"/>
              <a:gd name="connsiteY1" fmla="*/ 0 h 1097"/>
              <a:gd name="connsiteX2" fmla="*/ 0 w 6774"/>
              <a:gd name="connsiteY2" fmla="*/ 194 h 1097"/>
              <a:gd name="connsiteX3" fmla="*/ 2700 w 6774"/>
              <a:gd name="connsiteY3" fmla="*/ 1097 h 1097"/>
              <a:gd name="connsiteX4" fmla="*/ 6774 w 6774"/>
              <a:gd name="connsiteY4" fmla="*/ 282 h 1097"/>
              <a:gd name="connsiteX5" fmla="*/ 6774 w 6774"/>
              <a:gd name="connsiteY5" fmla="*/ 0 h 1097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74" h="1097">
                <a:moveTo>
                  <a:pt x="6774" y="0"/>
                </a:moveTo>
                <a:lnTo>
                  <a:pt x="0" y="0"/>
                </a:lnTo>
                <a:lnTo>
                  <a:pt x="0" y="194"/>
                </a:lnTo>
                <a:lnTo>
                  <a:pt x="2700" y="1097"/>
                </a:lnTo>
                <a:lnTo>
                  <a:pt x="6774" y="282"/>
                </a:lnTo>
                <a:lnTo>
                  <a:pt x="6774" y="0"/>
                </a:lnTo>
              </a:path>
            </a:pathLst>
          </a:custGeom>
          <a:solidFill>
            <a:schemeClr val="accent1"/>
          </a:solidFill>
          <a:ln w="9525">
            <a:noFill/>
            <a:round/>
          </a:ln>
        </p:spPr>
        <p:txBody>
          <a:bodyPr anchor="ctr"/>
          <a:p>
            <a:pPr lvl="0" algn="ctr">
              <a:defRPr lang="ko-KR" altLang="en-US"/>
            </a:pPr>
            <a:endParaRPr lang="en-US" altLang="ko-KR"/>
          </a:p>
        </p:txBody>
      </p:sp>
      <p:sp>
        <p:nvSpPr>
          <p:cNvPr id="14" name=""/>
          <p:cNvSpPr/>
          <p:nvPr/>
        </p:nvSpPr>
        <p:spPr>
          <a:xfrm rot="16200000">
            <a:off x="-839161" y="3864994"/>
            <a:ext cx="4116307" cy="1880869"/>
          </a:xfrm>
          <a:custGeom>
            <a:avLst/>
            <a:gdLst>
              <a:gd name="connsiteX0" fmla="*/ 5486400 w 5486400"/>
              <a:gd name="connsiteY0" fmla="*/ 1085850 h 2571750"/>
              <a:gd name="connsiteX1" fmla="*/ 0 w 5486400"/>
              <a:gd name="connsiteY1" fmla="*/ 0 h 2571750"/>
              <a:gd name="connsiteX2" fmla="*/ 0 w 5486400"/>
              <a:gd name="connsiteY2" fmla="*/ 95250 h 2571750"/>
              <a:gd name="connsiteX3" fmla="*/ 923925 w 5486400"/>
              <a:gd name="connsiteY3" fmla="*/ 2571750 h 2571750"/>
              <a:gd name="connsiteX4" fmla="*/ 5486400 w 5486400"/>
              <a:gd name="connsiteY4" fmla="*/ 1085850 h 257175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0" h="2571750">
                <a:moveTo>
                  <a:pt x="5486400" y="1085850"/>
                </a:moveTo>
                <a:lnTo>
                  <a:pt x="0" y="0"/>
                </a:lnTo>
                <a:lnTo>
                  <a:pt x="0" y="95250"/>
                </a:lnTo>
                <a:lnTo>
                  <a:pt x="923925" y="2571750"/>
                </a:lnTo>
                <a:lnTo>
                  <a:pt x="5486400" y="1085850"/>
                </a:lnTo>
              </a:path>
            </a:pathLst>
          </a:cu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 lang="ko-KR" altLang="en-US"/>
            </a:pPr>
            <a:endParaRPr lang="en-US" altLang="ko-KR"/>
          </a:p>
        </p:txBody>
      </p:sp>
      <p:sp>
        <p:nvSpPr>
          <p:cNvPr id="15" name=""/>
          <p:cNvSpPr/>
          <p:nvPr/>
        </p:nvSpPr>
        <p:spPr>
          <a:xfrm rot="16200000">
            <a:off x="1234747" y="5050782"/>
            <a:ext cx="895421" cy="2731035"/>
          </a:xfrm>
          <a:custGeom>
            <a:avLst/>
            <a:gdLst>
              <a:gd name="connsiteX0" fmla="*/ 0 w 571472"/>
              <a:gd name="connsiteY0" fmla="*/ 3000396 h 3000396"/>
              <a:gd name="connsiteX1" fmla="*/ 0 w 571472"/>
              <a:gd name="connsiteY1" fmla="*/ 0 h 3000396"/>
              <a:gd name="connsiteX2" fmla="*/ 571472 w 571472"/>
              <a:gd name="connsiteY2" fmla="*/ 3000396 h 3000396"/>
              <a:gd name="connsiteX3" fmla="*/ 0 w 571472"/>
              <a:gd name="connsiteY3" fmla="*/ 3000396 h 3000396"/>
              <a:gd name="connsiteX0" fmla="*/ 0 w 928630"/>
              <a:gd name="connsiteY0" fmla="*/ 3000396 h 3000396"/>
              <a:gd name="connsiteX1" fmla="*/ 0 w 928630"/>
              <a:gd name="connsiteY1" fmla="*/ 0 h 3000396"/>
              <a:gd name="connsiteX2" fmla="*/ 928630 w 928630"/>
              <a:gd name="connsiteY2" fmla="*/ 2500306 h 3000396"/>
              <a:gd name="connsiteX3" fmla="*/ 0 w 928630"/>
              <a:gd name="connsiteY3" fmla="*/ 3000396 h 3000396"/>
              <a:gd name="connsiteX0" fmla="*/ 9525 w 938155"/>
              <a:gd name="connsiteY0" fmla="*/ 3067050 h 3067050"/>
              <a:gd name="connsiteX1" fmla="*/ 0 w 938155"/>
              <a:gd name="connsiteY1" fmla="*/ 0 h 3067050"/>
              <a:gd name="connsiteX2" fmla="*/ 938155 w 938155"/>
              <a:gd name="connsiteY2" fmla="*/ 2566960 h 3067050"/>
              <a:gd name="connsiteX3" fmla="*/ 9525 w 938155"/>
              <a:gd name="connsiteY3" fmla="*/ 3067050 h 3067050"/>
              <a:gd name="connsiteX0" fmla="*/ 9525 w 928656"/>
              <a:gd name="connsiteY0" fmla="*/ 3067050 h 3067050"/>
              <a:gd name="connsiteX1" fmla="*/ 0 w 928656"/>
              <a:gd name="connsiteY1" fmla="*/ 0 h 3067050"/>
              <a:gd name="connsiteX2" fmla="*/ 928656 w 928656"/>
              <a:gd name="connsiteY2" fmla="*/ 2509813 h 3067050"/>
              <a:gd name="connsiteX3" fmla="*/ 9525 w 928656"/>
              <a:gd name="connsiteY3" fmla="*/ 3067050 h 3067050"/>
              <a:gd name="connsiteX0" fmla="*/ 9525 w 928656"/>
              <a:gd name="connsiteY0" fmla="*/ 2709836 h 2709836"/>
              <a:gd name="connsiteX1" fmla="*/ 0 w 928656"/>
              <a:gd name="connsiteY1" fmla="*/ 0 h 2709836"/>
              <a:gd name="connsiteX2" fmla="*/ 928656 w 928656"/>
              <a:gd name="connsiteY2" fmla="*/ 2509813 h 2709836"/>
              <a:gd name="connsiteX3" fmla="*/ 9525 w 928656"/>
              <a:gd name="connsiteY3" fmla="*/ 2709836 h 2709836"/>
              <a:gd name="connsiteX0" fmla="*/ 9525 w 928656"/>
              <a:gd name="connsiteY0" fmla="*/ 2781250 h 2781250"/>
              <a:gd name="connsiteX1" fmla="*/ 0 w 928656"/>
              <a:gd name="connsiteY1" fmla="*/ 0 h 2781250"/>
              <a:gd name="connsiteX2" fmla="*/ 928656 w 928656"/>
              <a:gd name="connsiteY2" fmla="*/ 2509813 h 2781250"/>
              <a:gd name="connsiteX3" fmla="*/ 9525 w 928656"/>
              <a:gd name="connsiteY3" fmla="*/ 2781250 h 2781250"/>
              <a:gd name="connsiteX0" fmla="*/ 9525 w 928656"/>
              <a:gd name="connsiteY0" fmla="*/ 2924102 h 2924102"/>
              <a:gd name="connsiteX1" fmla="*/ 0 w 928656"/>
              <a:gd name="connsiteY1" fmla="*/ 0 h 2924102"/>
              <a:gd name="connsiteX2" fmla="*/ 928656 w 928656"/>
              <a:gd name="connsiteY2" fmla="*/ 2509813 h 2924102"/>
              <a:gd name="connsiteX3" fmla="*/ 9525 w 928656"/>
              <a:gd name="connsiteY3" fmla="*/ 2924102 h 2924102"/>
              <a:gd name="connsiteX0" fmla="*/ 9525 w 931063"/>
              <a:gd name="connsiteY0" fmla="*/ 2924102 h 2924102"/>
              <a:gd name="connsiteX1" fmla="*/ 0 w 931063"/>
              <a:gd name="connsiteY1" fmla="*/ 0 h 2924102"/>
              <a:gd name="connsiteX2" fmla="*/ 931063 w 931063"/>
              <a:gd name="connsiteY2" fmla="*/ 2521723 h 2924102"/>
              <a:gd name="connsiteX3" fmla="*/ 9525 w 931063"/>
              <a:gd name="connsiteY3" fmla="*/ 2924102 h 2924102"/>
              <a:gd name="connsiteX0" fmla="*/ 0 w 931063"/>
              <a:gd name="connsiteY0" fmla="*/ 2805040 h 2805040"/>
              <a:gd name="connsiteX1" fmla="*/ 0 w 931063"/>
              <a:gd name="connsiteY1" fmla="*/ 0 h 2805040"/>
              <a:gd name="connsiteX2" fmla="*/ 931063 w 931063"/>
              <a:gd name="connsiteY2" fmla="*/ 2521723 h 2805040"/>
              <a:gd name="connsiteX3" fmla="*/ 0 w 931063"/>
              <a:gd name="connsiteY3" fmla="*/ 2805040 h 2805040"/>
              <a:gd name="connsiteX0" fmla="*/ 6350 w 931063"/>
              <a:gd name="connsiteY0" fmla="*/ 2822504 h 2822504"/>
              <a:gd name="connsiteX1" fmla="*/ 0 w 931063"/>
              <a:gd name="connsiteY1" fmla="*/ 0 h 2822504"/>
              <a:gd name="connsiteX2" fmla="*/ 931063 w 931063"/>
              <a:gd name="connsiteY2" fmla="*/ 2521723 h 2822504"/>
              <a:gd name="connsiteX3" fmla="*/ 6350 w 931063"/>
              <a:gd name="connsiteY3" fmla="*/ 2822504 h 2822504"/>
              <a:gd name="connsiteX0" fmla="*/ 6350 w 1185503"/>
              <a:gd name="connsiteY0" fmla="*/ 2822504 h 3224000"/>
              <a:gd name="connsiteX1" fmla="*/ 0 w 1185503"/>
              <a:gd name="connsiteY1" fmla="*/ 0 h 3224000"/>
              <a:gd name="connsiteX2" fmla="*/ 1185503 w 1185503"/>
              <a:gd name="connsiteY2" fmla="*/ 3224000 h 3224000"/>
              <a:gd name="connsiteX3" fmla="*/ 6350 w 1185503"/>
              <a:gd name="connsiteY3" fmla="*/ 2822504 h 3224000"/>
              <a:gd name="connsiteX0" fmla="*/ 2116 w 1193457"/>
              <a:gd name="connsiteY0" fmla="*/ 3734200 h 3734200"/>
              <a:gd name="connsiteX1" fmla="*/ 7954 w 1193457"/>
              <a:gd name="connsiteY1" fmla="*/ 0 h 3734200"/>
              <a:gd name="connsiteX2" fmla="*/ 1193457 w 1193457"/>
              <a:gd name="connsiteY2" fmla="*/ 3224000 h 3734200"/>
              <a:gd name="connsiteX3" fmla="*/ 2116 w 1193457"/>
              <a:gd name="connsiteY3" fmla="*/ 3734200 h 37342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93457" h="3734200">
                <a:moveTo>
                  <a:pt x="2116" y="3734200"/>
                </a:moveTo>
                <a:cubicBezTo>
                  <a:pt x="-1" y="2793365"/>
                  <a:pt x="10071" y="940835"/>
                  <a:pt x="7954" y="0"/>
                </a:cubicBezTo>
                <a:lnTo>
                  <a:pt x="1193457" y="3224000"/>
                </a:lnTo>
                <a:lnTo>
                  <a:pt x="2116" y="3734200"/>
                </a:lnTo>
              </a:path>
            </a:pathLst>
          </a:custGeom>
          <a:solidFill>
            <a:schemeClr val="accent2">
              <a:lumMod val="50000"/>
              <a:lumOff val="50000"/>
            </a:schemeClr>
          </a:solidFill>
          <a:ln w="9525">
            <a:noFill/>
            <a:round/>
          </a:ln>
        </p:spPr>
        <p:txBody>
          <a:bodyPr anchor="ctr"/>
          <a:p>
            <a:pPr lvl="0" algn="ctr">
              <a:defRPr lang="ko-KR" altLang="en-US"/>
            </a:pPr>
            <a:endParaRPr lang="en-US" altLang="ko-KR"/>
          </a:p>
        </p:txBody>
      </p:sp>
      <p:sp>
        <p:nvSpPr>
          <p:cNvPr id="16" name=""/>
          <p:cNvSpPr/>
          <p:nvPr/>
        </p:nvSpPr>
        <p:spPr>
          <a:xfrm>
            <a:off x="164250" y="-27432"/>
            <a:ext cx="2883726" cy="6885432"/>
          </a:xfrm>
          <a:custGeom>
            <a:avLst/>
            <a:gdLst>
              <a:gd name="connsiteX0" fmla="*/ 0 w 500066"/>
              <a:gd name="connsiteY0" fmla="*/ 6858000 h 6858000"/>
              <a:gd name="connsiteX1" fmla="*/ 250033 w 500066"/>
              <a:gd name="connsiteY1" fmla="*/ 0 h 6858000"/>
              <a:gd name="connsiteX2" fmla="*/ 500066 w 500066"/>
              <a:gd name="connsiteY2" fmla="*/ 6858000 h 6858000"/>
              <a:gd name="connsiteX3" fmla="*/ 0 w 500066"/>
              <a:gd name="connsiteY3" fmla="*/ 6858000 h 6858000"/>
              <a:gd name="connsiteX0" fmla="*/ 1638757 w 2138823"/>
              <a:gd name="connsiteY0" fmla="*/ 6876288 h 6876288"/>
              <a:gd name="connsiteX1" fmla="*/ 0 w 2138823"/>
              <a:gd name="connsiteY1" fmla="*/ 0 h 6876288"/>
              <a:gd name="connsiteX2" fmla="*/ 2138823 w 2138823"/>
              <a:gd name="connsiteY2" fmla="*/ 6876288 h 6876288"/>
              <a:gd name="connsiteX3" fmla="*/ 1638757 w 2138823"/>
              <a:gd name="connsiteY3" fmla="*/ 6876288 h 6876288"/>
              <a:gd name="connsiteX0" fmla="*/ 1662729 w 2162795"/>
              <a:gd name="connsiteY0" fmla="*/ 6885432 h 6885432"/>
              <a:gd name="connsiteX1" fmla="*/ 0 w 2162795"/>
              <a:gd name="connsiteY1" fmla="*/ 0 h 6885432"/>
              <a:gd name="connsiteX2" fmla="*/ 2162795 w 2162795"/>
              <a:gd name="connsiteY2" fmla="*/ 6885432 h 6885432"/>
              <a:gd name="connsiteX3" fmla="*/ 1662729 w 2162795"/>
              <a:gd name="connsiteY3" fmla="*/ 6885432 h 6885432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2795" h="6885432">
                <a:moveTo>
                  <a:pt x="1662729" y="6885432"/>
                </a:moveTo>
                <a:lnTo>
                  <a:pt x="0" y="0"/>
                </a:lnTo>
                <a:lnTo>
                  <a:pt x="2162795" y="6885432"/>
                </a:lnTo>
                <a:lnTo>
                  <a:pt x="1662729" y="6885432"/>
                </a:lnTo>
              </a:path>
            </a:pathLst>
          </a:custGeom>
          <a:solidFill>
            <a:schemeClr val="accent1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 lang="ko-KR" altLang="en-US"/>
            </a:pPr>
            <a:endParaRPr lang="en-US" altLang="ko-KR"/>
          </a:p>
        </p:txBody>
      </p:sp>
      <p:sp>
        <p:nvSpPr>
          <p:cNvPr id="2" name=""/>
          <p:cNvSpPr>
            <a:spLocks noGrp="1"/>
          </p:cNvSpPr>
          <p:nvPr>
            <p:ph type="ctrTitle" idx="0"/>
          </p:nvPr>
        </p:nvSpPr>
        <p:spPr>
          <a:xfrm>
            <a:off x="2270586" y="2919309"/>
            <a:ext cx="9635703" cy="957706"/>
          </a:xfrm>
        </p:spPr>
        <p:txBody>
          <a:bodyPr>
            <a:noAutofit/>
          </a:bodyPr>
          <a:lstStyle>
            <a:lvl1pPr algn="l">
              <a:defRPr sz="5400" b="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subTitle" idx="1"/>
          </p:nvPr>
        </p:nvSpPr>
        <p:spPr>
          <a:xfrm>
            <a:off x="2270586" y="3890286"/>
            <a:ext cx="9631127" cy="467408"/>
          </a:xfrm>
        </p:spPr>
        <p:txBody>
          <a:bodyPr anchor="ctr"/>
          <a:lstStyle>
            <a:lvl1pPr marL="0" indent="0" algn="l">
              <a:buNone/>
              <a:defRPr sz="24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 lang="ko-KR" altLang="en-US"/>
            </a:pPr>
            <a:r>
              <a:rPr lang="ko-KR" altLang="en-US"/>
              <a:t>마스터 부제목 스타일 편집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ko-KR" altLang="en-US"/>
            </a:pPr>
            <a:fld id="{282A27DF-FC33-4C05-96AC-ECA7B11A9C6B}" type="datetime1">
              <a:rPr lang="ko-KR" altLang="en-US"/>
              <a:pPr>
                <a:defRPr lang="ko-KR" altLang="en-US"/>
              </a:pPr>
              <a:t>2015-07-13</a:t>
            </a:fld>
            <a:endParaRPr lang="en-US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ko-KR" altLang="en-US"/>
            </a:pPr>
            <a:fld id="{DF28FB93-0A08-4E7D-8E63-9EFA29F1E093}" type="slidenum">
              <a:rPr lang="en-US" altLang="en-US"/>
              <a:pPr>
                <a:defRPr lang="ko-KR" altLang="en-US"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7838087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및 내용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ko-KR" altLang="en-US"/>
            </a:pPr>
            <a:fld id="{EA2121F7-E20F-43B2-B3C6-C7E51EA698C5}" type="datetime1">
              <a:rPr lang="ko-KR" altLang="en-US"/>
              <a:pPr>
                <a:defRPr lang="ko-KR" altLang="en-US"/>
              </a:pPr>
              <a:t>2015-07-13</a:t>
            </a:fld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ko-KR" altLang="en-US"/>
            </a:pPr>
            <a:fld id="{AD22CD3B-FDDF-4998-970C-76E6E0BEC65F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9248128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ko-KR" altLang="en-US"/>
            </a:pPr>
            <a:fld id="{5DAC1609-63DC-4238-90D7-BDA4CCE7E5D2}" type="datetime1">
              <a:rPr lang="ko-KR" altLang="en-US"/>
              <a:pPr>
                <a:defRPr lang="ko-KR" altLang="en-US"/>
              </a:pPr>
              <a:t>2015-07-13</a:t>
            </a:fld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ko-KR" altLang="en-US"/>
            </a:pPr>
            <a:fld id="{AD22CD3B-FDDF-4998-970C-76E6E0BEC65F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135006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1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"/>
          <p:cNvGrpSpPr/>
          <p:nvPr/>
        </p:nvGrpSpPr>
        <p:grpSpPr>
          <a:xfrm rot="0">
            <a:off x="-73151" y="3141915"/>
            <a:ext cx="12305046" cy="3716088"/>
            <a:chOff x="-28573" y="3141915"/>
            <a:chExt cx="9202494" cy="3716088"/>
          </a:xfrm>
        </p:grpSpPr>
        <p:sp>
          <p:nvSpPr>
            <p:cNvPr id="8" name=""/>
            <p:cNvSpPr/>
            <p:nvPr/>
          </p:nvSpPr>
          <p:spPr>
            <a:xfrm rot="10800000" flipH="1">
              <a:off x="13414" y="5642418"/>
              <a:ext cx="3665145" cy="1074154"/>
            </a:xfrm>
            <a:custGeom>
              <a:avLst/>
              <a:gdLst>
                <a:gd name="connsiteX0" fmla="*/ 0 w 2715"/>
                <a:gd name="connsiteY0" fmla="*/ 0 h 1458"/>
                <a:gd name="connsiteX1" fmla="*/ 0 w 2715"/>
                <a:gd name="connsiteY1" fmla="*/ 1458 h 1458"/>
                <a:gd name="connsiteX2" fmla="*/ 2715 w 2715"/>
                <a:gd name="connsiteY2" fmla="*/ 909 h 1458"/>
                <a:gd name="connsiteX3" fmla="*/ 0 w 2715"/>
                <a:gd name="connsiteY3" fmla="*/ 0 h 1458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15" h="1458">
                  <a:moveTo>
                    <a:pt x="0" y="0"/>
                  </a:moveTo>
                  <a:lnTo>
                    <a:pt x="0" y="1458"/>
                  </a:lnTo>
                  <a:lnTo>
                    <a:pt x="2715" y="909"/>
                  </a:lnTo>
                  <a:lnTo>
                    <a:pt x="0" y="0"/>
                  </a:lnTo>
                </a:path>
              </a:pathLst>
            </a:custGeom>
            <a:solidFill>
              <a:schemeClr val="accent3">
                <a:lumMod val="40000"/>
                <a:lumOff val="60000"/>
                <a:alpha val="39000"/>
              </a:schemeClr>
            </a:solidFill>
            <a:ln w="9525">
              <a:noFill/>
              <a:round/>
            </a:ln>
          </p:spPr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9" name=""/>
            <p:cNvSpPr/>
            <p:nvPr/>
          </p:nvSpPr>
          <p:spPr>
            <a:xfrm rot="10800000" flipH="1">
              <a:off x="8017" y="6050481"/>
              <a:ext cx="9154154" cy="807522"/>
            </a:xfrm>
            <a:custGeom>
              <a:avLst/>
              <a:gdLst>
                <a:gd name="connsiteX0" fmla="*/ 6774 w 6774"/>
                <a:gd name="connsiteY0" fmla="*/ 0 h 1097"/>
                <a:gd name="connsiteX1" fmla="*/ 0 w 6774"/>
                <a:gd name="connsiteY1" fmla="*/ 0 h 1097"/>
                <a:gd name="connsiteX2" fmla="*/ 0 w 6774"/>
                <a:gd name="connsiteY2" fmla="*/ 194 h 1097"/>
                <a:gd name="connsiteX3" fmla="*/ 2700 w 6774"/>
                <a:gd name="connsiteY3" fmla="*/ 1097 h 1097"/>
                <a:gd name="connsiteX4" fmla="*/ 6774 w 6774"/>
                <a:gd name="connsiteY4" fmla="*/ 282 h 1097"/>
                <a:gd name="connsiteX5" fmla="*/ 6774 w 6774"/>
                <a:gd name="connsiteY5" fmla="*/ 0 h 1097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74" h="1097">
                  <a:moveTo>
                    <a:pt x="6774" y="0"/>
                  </a:moveTo>
                  <a:lnTo>
                    <a:pt x="0" y="0"/>
                  </a:lnTo>
                  <a:lnTo>
                    <a:pt x="0" y="194"/>
                  </a:lnTo>
                  <a:lnTo>
                    <a:pt x="2700" y="1097"/>
                  </a:lnTo>
                  <a:lnTo>
                    <a:pt x="6774" y="282"/>
                  </a:lnTo>
                  <a:lnTo>
                    <a:pt x="6774" y="0"/>
                  </a:lnTo>
                </a:path>
              </a:pathLst>
            </a:custGeom>
            <a:solidFill>
              <a:schemeClr val="accent3">
                <a:alpha val="75000"/>
              </a:schemeClr>
            </a:solidFill>
            <a:ln w="9525">
              <a:noFill/>
              <a:round/>
            </a:ln>
          </p:spPr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10" name=""/>
            <p:cNvSpPr/>
            <p:nvPr/>
          </p:nvSpPr>
          <p:spPr>
            <a:xfrm rot="10800000">
              <a:off x="3672466" y="5238365"/>
              <a:ext cx="5490588" cy="1410652"/>
            </a:xfrm>
            <a:custGeom>
              <a:avLst/>
              <a:gdLst>
                <a:gd name="connsiteX0" fmla="*/ 5486400 w 5486400"/>
                <a:gd name="connsiteY0" fmla="*/ 1085850 h 2571750"/>
                <a:gd name="connsiteX1" fmla="*/ 0 w 5486400"/>
                <a:gd name="connsiteY1" fmla="*/ 0 h 2571750"/>
                <a:gd name="connsiteX2" fmla="*/ 0 w 5486400"/>
                <a:gd name="connsiteY2" fmla="*/ 95250 h 2571750"/>
                <a:gd name="connsiteX3" fmla="*/ 923925 w 5486400"/>
                <a:gd name="connsiteY3" fmla="*/ 2571750 h 2571750"/>
                <a:gd name="connsiteX4" fmla="*/ 5486400 w 5486400"/>
                <a:gd name="connsiteY4" fmla="*/ 1085850 h 257175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86400" h="2571750">
                  <a:moveTo>
                    <a:pt x="5486400" y="1085850"/>
                  </a:moveTo>
                  <a:lnTo>
                    <a:pt x="0" y="0"/>
                  </a:lnTo>
                  <a:lnTo>
                    <a:pt x="0" y="95250"/>
                  </a:lnTo>
                  <a:lnTo>
                    <a:pt x="923925" y="2571750"/>
                  </a:lnTo>
                  <a:lnTo>
                    <a:pt x="5486400" y="1085850"/>
                  </a:lnTo>
                </a:path>
              </a:pathLst>
            </a:custGeom>
            <a:solidFill>
              <a:schemeClr val="accent1">
                <a:lumMod val="60000"/>
                <a:lumOff val="40000"/>
                <a:alpha val="7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11" name=""/>
            <p:cNvSpPr/>
            <p:nvPr/>
          </p:nvSpPr>
          <p:spPr>
            <a:xfrm rot="10800000">
              <a:off x="8223873" y="5072085"/>
              <a:ext cx="931774" cy="1548196"/>
            </a:xfrm>
            <a:custGeom>
              <a:avLst/>
              <a:gdLst>
                <a:gd name="connsiteX0" fmla="*/ 0 w 571472"/>
                <a:gd name="connsiteY0" fmla="*/ 3000396 h 3000396"/>
                <a:gd name="connsiteX1" fmla="*/ 0 w 571472"/>
                <a:gd name="connsiteY1" fmla="*/ 0 h 3000396"/>
                <a:gd name="connsiteX2" fmla="*/ 571472 w 571472"/>
                <a:gd name="connsiteY2" fmla="*/ 3000396 h 3000396"/>
                <a:gd name="connsiteX3" fmla="*/ 0 w 571472"/>
                <a:gd name="connsiteY3" fmla="*/ 3000396 h 3000396"/>
                <a:gd name="connsiteX0" fmla="*/ 0 w 928630"/>
                <a:gd name="connsiteY0" fmla="*/ 3000396 h 3000396"/>
                <a:gd name="connsiteX1" fmla="*/ 0 w 928630"/>
                <a:gd name="connsiteY1" fmla="*/ 0 h 3000396"/>
                <a:gd name="connsiteX2" fmla="*/ 928630 w 928630"/>
                <a:gd name="connsiteY2" fmla="*/ 2500306 h 3000396"/>
                <a:gd name="connsiteX3" fmla="*/ 0 w 928630"/>
                <a:gd name="connsiteY3" fmla="*/ 3000396 h 3000396"/>
                <a:gd name="connsiteX0" fmla="*/ 9525 w 938155"/>
                <a:gd name="connsiteY0" fmla="*/ 3067050 h 3067050"/>
                <a:gd name="connsiteX1" fmla="*/ 0 w 938155"/>
                <a:gd name="connsiteY1" fmla="*/ 0 h 3067050"/>
                <a:gd name="connsiteX2" fmla="*/ 938155 w 938155"/>
                <a:gd name="connsiteY2" fmla="*/ 2566960 h 3067050"/>
                <a:gd name="connsiteX3" fmla="*/ 9525 w 938155"/>
                <a:gd name="connsiteY3" fmla="*/ 3067050 h 3067050"/>
                <a:gd name="connsiteX0" fmla="*/ 9525 w 928656"/>
                <a:gd name="connsiteY0" fmla="*/ 3067050 h 3067050"/>
                <a:gd name="connsiteX1" fmla="*/ 0 w 928656"/>
                <a:gd name="connsiteY1" fmla="*/ 0 h 3067050"/>
                <a:gd name="connsiteX2" fmla="*/ 928656 w 928656"/>
                <a:gd name="connsiteY2" fmla="*/ 2509813 h 3067050"/>
                <a:gd name="connsiteX3" fmla="*/ 9525 w 928656"/>
                <a:gd name="connsiteY3" fmla="*/ 3067050 h 3067050"/>
                <a:gd name="connsiteX0" fmla="*/ 9525 w 928656"/>
                <a:gd name="connsiteY0" fmla="*/ 2709836 h 2709836"/>
                <a:gd name="connsiteX1" fmla="*/ 0 w 928656"/>
                <a:gd name="connsiteY1" fmla="*/ 0 h 2709836"/>
                <a:gd name="connsiteX2" fmla="*/ 928656 w 928656"/>
                <a:gd name="connsiteY2" fmla="*/ 2509813 h 2709836"/>
                <a:gd name="connsiteX3" fmla="*/ 9525 w 928656"/>
                <a:gd name="connsiteY3" fmla="*/ 2709836 h 2709836"/>
                <a:gd name="connsiteX0" fmla="*/ 9525 w 928656"/>
                <a:gd name="connsiteY0" fmla="*/ 2781250 h 2781250"/>
                <a:gd name="connsiteX1" fmla="*/ 0 w 928656"/>
                <a:gd name="connsiteY1" fmla="*/ 0 h 2781250"/>
                <a:gd name="connsiteX2" fmla="*/ 928656 w 928656"/>
                <a:gd name="connsiteY2" fmla="*/ 2509813 h 2781250"/>
                <a:gd name="connsiteX3" fmla="*/ 9525 w 928656"/>
                <a:gd name="connsiteY3" fmla="*/ 2781250 h 2781250"/>
                <a:gd name="connsiteX0" fmla="*/ 9525 w 928656"/>
                <a:gd name="connsiteY0" fmla="*/ 2924102 h 2924102"/>
                <a:gd name="connsiteX1" fmla="*/ 0 w 928656"/>
                <a:gd name="connsiteY1" fmla="*/ 0 h 2924102"/>
                <a:gd name="connsiteX2" fmla="*/ 928656 w 928656"/>
                <a:gd name="connsiteY2" fmla="*/ 2509813 h 2924102"/>
                <a:gd name="connsiteX3" fmla="*/ 9525 w 928656"/>
                <a:gd name="connsiteY3" fmla="*/ 2924102 h 2924102"/>
                <a:gd name="connsiteX0" fmla="*/ 9525 w 931063"/>
                <a:gd name="connsiteY0" fmla="*/ 2924102 h 2924102"/>
                <a:gd name="connsiteX1" fmla="*/ 0 w 931063"/>
                <a:gd name="connsiteY1" fmla="*/ 0 h 2924102"/>
                <a:gd name="connsiteX2" fmla="*/ 931063 w 931063"/>
                <a:gd name="connsiteY2" fmla="*/ 2521723 h 2924102"/>
                <a:gd name="connsiteX3" fmla="*/ 9525 w 931063"/>
                <a:gd name="connsiteY3" fmla="*/ 2924102 h 2924102"/>
                <a:gd name="connsiteX0" fmla="*/ 0 w 931063"/>
                <a:gd name="connsiteY0" fmla="*/ 2805040 h 2805040"/>
                <a:gd name="connsiteX1" fmla="*/ 0 w 931063"/>
                <a:gd name="connsiteY1" fmla="*/ 0 h 2805040"/>
                <a:gd name="connsiteX2" fmla="*/ 931063 w 931063"/>
                <a:gd name="connsiteY2" fmla="*/ 2521723 h 2805040"/>
                <a:gd name="connsiteX3" fmla="*/ 0 w 931063"/>
                <a:gd name="connsiteY3" fmla="*/ 2805040 h 2805040"/>
                <a:gd name="connsiteX0" fmla="*/ 6350 w 931063"/>
                <a:gd name="connsiteY0" fmla="*/ 2822504 h 2822504"/>
                <a:gd name="connsiteX1" fmla="*/ 0 w 931063"/>
                <a:gd name="connsiteY1" fmla="*/ 0 h 2822504"/>
                <a:gd name="connsiteX2" fmla="*/ 931063 w 931063"/>
                <a:gd name="connsiteY2" fmla="*/ 2521723 h 2822504"/>
                <a:gd name="connsiteX3" fmla="*/ 6350 w 931063"/>
                <a:gd name="connsiteY3" fmla="*/ 2822504 h 2822504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1063" h="2822504">
                  <a:moveTo>
                    <a:pt x="6350" y="2822504"/>
                  </a:moveTo>
                  <a:cubicBezTo>
                    <a:pt x="4233" y="1881669"/>
                    <a:pt x="2117" y="940835"/>
                    <a:pt x="0" y="0"/>
                  </a:cubicBezTo>
                  <a:lnTo>
                    <a:pt x="931063" y="2521723"/>
                  </a:lnTo>
                  <a:lnTo>
                    <a:pt x="6350" y="2822504"/>
                  </a:lnTo>
                </a:path>
              </a:pathLst>
            </a:custGeom>
            <a:solidFill>
              <a:schemeClr val="accent1">
                <a:alpha val="74000"/>
              </a:schemeClr>
            </a:solidFill>
            <a:ln w="9525">
              <a:noFill/>
              <a:round/>
            </a:ln>
          </p:spPr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12" name=""/>
            <p:cNvSpPr/>
            <p:nvPr/>
          </p:nvSpPr>
          <p:spPr>
            <a:xfrm rot="16200000">
              <a:off x="2776226" y="337116"/>
              <a:ext cx="3592895" cy="9202494"/>
            </a:xfrm>
            <a:custGeom>
              <a:avLst/>
              <a:gdLst>
                <a:gd name="connsiteX0" fmla="*/ 0 w 500066"/>
                <a:gd name="connsiteY0" fmla="*/ 6858000 h 6858000"/>
                <a:gd name="connsiteX1" fmla="*/ 250033 w 500066"/>
                <a:gd name="connsiteY1" fmla="*/ 0 h 6858000"/>
                <a:gd name="connsiteX2" fmla="*/ 500066 w 500066"/>
                <a:gd name="connsiteY2" fmla="*/ 6858000 h 6858000"/>
                <a:gd name="connsiteX3" fmla="*/ 0 w 500066"/>
                <a:gd name="connsiteY3" fmla="*/ 6858000 h 6858000"/>
                <a:gd name="connsiteX0" fmla="*/ 1638757 w 2138823"/>
                <a:gd name="connsiteY0" fmla="*/ 6876288 h 6876288"/>
                <a:gd name="connsiteX1" fmla="*/ 0 w 2138823"/>
                <a:gd name="connsiteY1" fmla="*/ 0 h 6876288"/>
                <a:gd name="connsiteX2" fmla="*/ 2138823 w 2138823"/>
                <a:gd name="connsiteY2" fmla="*/ 6876288 h 6876288"/>
                <a:gd name="connsiteX3" fmla="*/ 1638757 w 2138823"/>
                <a:gd name="connsiteY3" fmla="*/ 6876288 h 6876288"/>
                <a:gd name="connsiteX0" fmla="*/ 1662729 w 2162795"/>
                <a:gd name="connsiteY0" fmla="*/ 6885432 h 6885432"/>
                <a:gd name="connsiteX1" fmla="*/ 0 w 2162795"/>
                <a:gd name="connsiteY1" fmla="*/ 0 h 6885432"/>
                <a:gd name="connsiteX2" fmla="*/ 2162795 w 2162795"/>
                <a:gd name="connsiteY2" fmla="*/ 6885432 h 6885432"/>
                <a:gd name="connsiteX3" fmla="*/ 1662729 w 2162795"/>
                <a:gd name="connsiteY3" fmla="*/ 6885432 h 6885432"/>
                <a:gd name="connsiteX0" fmla="*/ 1662729 w 3592895"/>
                <a:gd name="connsiteY0" fmla="*/ 6885432 h 6899132"/>
                <a:gd name="connsiteX1" fmla="*/ 0 w 3592895"/>
                <a:gd name="connsiteY1" fmla="*/ 0 h 6899132"/>
                <a:gd name="connsiteX2" fmla="*/ 3592895 w 3592895"/>
                <a:gd name="connsiteY2" fmla="*/ 6899132 h 6899132"/>
                <a:gd name="connsiteX3" fmla="*/ 1662729 w 3592895"/>
                <a:gd name="connsiteY3" fmla="*/ 6885432 h 6899132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2895" h="6899132">
                  <a:moveTo>
                    <a:pt x="1662729" y="6885432"/>
                  </a:moveTo>
                  <a:lnTo>
                    <a:pt x="0" y="0"/>
                  </a:lnTo>
                  <a:lnTo>
                    <a:pt x="3592895" y="6899132"/>
                  </a:lnTo>
                  <a:lnTo>
                    <a:pt x="1662729" y="6885432"/>
                  </a:lnTo>
                </a:path>
              </a:pathLst>
            </a:custGeom>
            <a:solidFill>
              <a:schemeClr val="accent3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</p:grpSp>
      <p:sp>
        <p:nvSpPr>
          <p:cNvPr id="2" name=""/>
          <p:cNvSpPr>
            <a:spLocks noGrp="1"/>
          </p:cNvSpPr>
          <p:nvPr>
            <p:ph type="title" idx="0"/>
          </p:nvPr>
        </p:nvSpPr>
        <p:spPr>
          <a:xfrm>
            <a:off x="761962" y="2357419"/>
            <a:ext cx="10363199" cy="928705"/>
          </a:xfrm>
        </p:spPr>
        <p:txBody>
          <a:bodyPr anchor="t"/>
          <a:lstStyle>
            <a:lvl1pPr algn="l">
              <a:defRPr sz="5400" b="0" cap="all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body" idx="1"/>
          </p:nvPr>
        </p:nvSpPr>
        <p:spPr>
          <a:xfrm>
            <a:off x="761962" y="1807030"/>
            <a:ext cx="10363199" cy="550390"/>
          </a:xfrm>
        </p:spPr>
        <p:txBody>
          <a:bodyPr anchor="b">
            <a:noAutofit/>
          </a:bodyPr>
          <a:lstStyle>
            <a:lvl1pPr marL="0" indent="0">
              <a:buNone/>
              <a:defRPr sz="24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ko-KR" altLang="en-US"/>
            </a:pPr>
            <a:fld id="{21794FCA-B30B-4B0B-A06E-872BCCC939B8}" type="datetime1">
              <a:rPr lang="ko-KR" altLang="en-US"/>
              <a:pPr>
                <a:defRPr lang="ko-KR" altLang="en-US"/>
              </a:pPr>
              <a:t>2015-07-13</a:t>
            </a:fld>
            <a:endParaRPr lang="en-US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ko-KR" altLang="en-US"/>
            </a:pPr>
            <a:fld id="{DF28FB93-0A08-4E7D-8E63-9EFA29F1E093}" type="slidenum">
              <a:rPr lang="en-US" altLang="en-US"/>
              <a:pPr>
                <a:defRPr lang="ko-KR" altLang="en-US"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33714952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및 내용 2개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ko-KR" altLang="en-US"/>
            </a:pPr>
            <a:fld id="{82B4FBC9-0152-4321-B5AE-8A4D40C68623}" type="datetime1">
              <a:rPr lang="ko-KR" altLang="en-US"/>
              <a:pPr>
                <a:defRPr lang="ko-KR" altLang="en-US"/>
              </a:pPr>
              <a:t>2015-07-13</a:t>
            </a:fld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ko-KR" altLang="en-US"/>
            </a:pPr>
            <a:fld id="{AD22CD3B-FDDF-4998-970C-76E6E0BEC65F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4908946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ko-KR" altLang="en-US"/>
            </a:pPr>
            <a:fld id="{F5271060-A817-4E00-9021-886881503EBB}" type="datetime1">
              <a:rPr lang="ko-KR" altLang="en-US"/>
              <a:pPr>
                <a:defRPr lang="ko-KR" altLang="en-US"/>
              </a:pPr>
              <a:t>2015-07-13</a:t>
            </a:fld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ko-KR" altLang="en-US"/>
            </a:pPr>
            <a:fld id="{AD22CD3B-FDDF-4998-970C-76E6E0BEC65F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title" idx="0"/>
          </p:nvPr>
        </p:nvSpPr>
        <p:spPr>
          <a:xfrm>
            <a:off x="431799" y="123802"/>
            <a:ext cx="11302999" cy="939784"/>
          </a:xfrm>
          <a:prstGeom prst="rect">
            <a:avLst/>
          </a:prstGeom>
        </p:spPr>
        <p:txBody>
          <a:bodyPr vert="horz" lIns="91440" tIns="45720" rIns="91440" bIns="45720" anchor="ctr"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4040472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및 표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>
            <a:lvl1pPr>
              <a:defRPr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 noTextEdit="1"/>
          </p:cNvSpPr>
          <p:nvPr>
            <p:ph type="tbl" sz="quarter" idx="13"/>
          </p:nvPr>
        </p:nvSpPr>
        <p:spPr>
          <a:xfrm>
            <a:off x="608037" y="1214422"/>
            <a:ext cx="10972799" cy="4953841"/>
          </a:xfrm>
        </p:spPr>
        <p:txBody>
          <a:bodyPr/>
          <a:lstStyle>
            <a:lvl1pPr>
              <a:buNone/>
              <a:defRPr/>
            </a:lvl1pPr>
          </a:lstStyle>
          <a:p>
            <a:pPr lvl="0">
              <a:defRPr lang="ko-KR" altLang="en-US"/>
            </a:pPr>
            <a:r>
              <a:rPr lang="ko-KR" altLang="en-US"/>
              <a:t>표를 추가하려면 아이콘을 클릭하십시오</a:t>
            </a:r>
            <a:endParaRPr lang="ko-KR" altLang="en-US"/>
          </a:p>
        </p:txBody>
      </p:sp>
      <p:sp>
        <p:nvSpPr>
          <p:cNvPr id="7" name=""/>
          <p:cNvSpPr>
            <a:spLocks noGrp="1"/>
          </p:cNvSpPr>
          <p:nvPr>
            <p:ph type="dt" sz="half" idx="2"/>
          </p:nvPr>
        </p:nvSpPr>
        <p:spPr>
          <a:xfrm>
            <a:off x="431799" y="6356350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>
              <a:defRPr lang="ko-KR" altLang="en-US"/>
            </a:pPr>
            <a:fld id="{47ABBE4F-A180-451B-976B-207E95DDA7FB}" type="datetime1">
              <a:rPr lang="ko-KR" altLang="en-US"/>
              <a:pPr>
                <a:defRPr lang="ko-KR" altLang="en-US"/>
              </a:pPr>
              <a:t>2015-07-13</a:t>
            </a:fld>
            <a:endParaRPr lang="ko-KR" altLang="en-US"/>
          </a:p>
        </p:txBody>
      </p:sp>
      <p:sp>
        <p:nvSpPr>
          <p:cNvPr id="8" name="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9" name=""/>
          <p:cNvSpPr>
            <a:spLocks noGrp="1"/>
          </p:cNvSpPr>
          <p:nvPr>
            <p:ph type="sldNum" sz="quarter" idx="4"/>
          </p:nvPr>
        </p:nvSpPr>
        <p:spPr>
          <a:xfrm>
            <a:off x="8889999" y="6356350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>
              <a:defRPr lang="ko-KR" altLang="en-US"/>
            </a:pPr>
            <a:fld id="{AD22CD3B-FDDF-4998-970C-76E6E0BEC65F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8525312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및 내용 4개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sz="quarter" idx="1"/>
          </p:nvPr>
        </p:nvSpPr>
        <p:spPr>
          <a:xfrm>
            <a:off x="609599" y="1277872"/>
            <a:ext cx="5384799" cy="233887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sz="quarter" idx="2"/>
          </p:nvPr>
        </p:nvSpPr>
        <p:spPr>
          <a:xfrm>
            <a:off x="6197599" y="1277872"/>
            <a:ext cx="5384799" cy="233887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sz="quarter" idx="3"/>
          </p:nvPr>
        </p:nvSpPr>
        <p:spPr>
          <a:xfrm>
            <a:off x="608037" y="3786190"/>
            <a:ext cx="5384799" cy="233887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sz="quarter" idx="4"/>
          </p:nvPr>
        </p:nvSpPr>
        <p:spPr>
          <a:xfrm>
            <a:off x="6196037" y="3786190"/>
            <a:ext cx="5384799" cy="233887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10" name=""/>
          <p:cNvSpPr>
            <a:spLocks noGrp="1"/>
          </p:cNvSpPr>
          <p:nvPr>
            <p:ph type="dt" sz="half" idx="10"/>
          </p:nvPr>
        </p:nvSpPr>
        <p:spPr>
          <a:xfrm>
            <a:off x="431799" y="6356350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>
              <a:defRPr lang="ko-KR" altLang="en-US"/>
            </a:pPr>
            <a:fld id="{F0DB8ECF-E18C-4D8D-A7A0-FA2FABCA5290}" type="datetime1">
              <a:rPr lang="ko-KR" altLang="en-US"/>
              <a:pPr>
                <a:defRPr lang="ko-KR" altLang="en-US"/>
              </a:pPr>
              <a:t>2015-07-13</a:t>
            </a:fld>
            <a:endParaRPr lang="ko-KR" altLang="en-US"/>
          </a:p>
        </p:txBody>
      </p:sp>
      <p:sp>
        <p:nvSpPr>
          <p:cNvPr id="11" name=""/>
          <p:cNvSpPr>
            <a:spLocks noGrp="1"/>
          </p:cNvSpPr>
          <p:nvPr>
            <p:ph type="ftr" sz="quarter" idx="11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2" name=""/>
          <p:cNvSpPr>
            <a:spLocks noGrp="1"/>
          </p:cNvSpPr>
          <p:nvPr>
            <p:ph type="sldNum" sz="quarter" idx="12"/>
          </p:nvPr>
        </p:nvSpPr>
        <p:spPr>
          <a:xfrm>
            <a:off x="8889999" y="6356350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>
              <a:defRPr lang="ko-KR" altLang="en-US"/>
            </a:pPr>
            <a:fld id="{AD22CD3B-FDDF-4998-970C-76E6E0BEC65F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9877785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1" matchingName="그림 및 설명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"/>
          <p:cNvSpPr/>
          <p:nvPr/>
        </p:nvSpPr>
        <p:spPr>
          <a:xfrm rot="5400000">
            <a:off x="-3300803" y="3300663"/>
            <a:ext cx="6887028" cy="285709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endParaRPr lang="en-US" altLang="ko-KR"/>
          </a:p>
        </p:txBody>
      </p:sp>
      <p:grpSp>
        <p:nvGrpSpPr>
          <p:cNvPr id="21" name=""/>
          <p:cNvGrpSpPr/>
          <p:nvPr/>
        </p:nvGrpSpPr>
        <p:grpSpPr>
          <a:xfrm rot="0" flipH="1">
            <a:off x="-2" y="0"/>
            <a:ext cx="12192001" cy="6858001"/>
            <a:chOff x="-1" y="0"/>
            <a:chExt cx="9144001" cy="6858001"/>
          </a:xfrm>
        </p:grpSpPr>
        <p:sp>
          <p:nvSpPr>
            <p:cNvPr id="22" name=""/>
            <p:cNvSpPr/>
            <p:nvPr/>
          </p:nvSpPr>
          <p:spPr>
            <a:xfrm>
              <a:off x="0" y="6184705"/>
              <a:ext cx="2309196" cy="673295"/>
            </a:xfrm>
            <a:custGeom>
              <a:avLst/>
              <a:gdLst>
                <a:gd name="connsiteX0" fmla="*/ 1754 w 1942"/>
                <a:gd name="connsiteY0" fmla="*/ 0 h 560"/>
                <a:gd name="connsiteX1" fmla="*/ 0 w 1942"/>
                <a:gd name="connsiteY1" fmla="*/ 367 h 560"/>
                <a:gd name="connsiteX2" fmla="*/ 0 w 1942"/>
                <a:gd name="connsiteY2" fmla="*/ 560 h 560"/>
                <a:gd name="connsiteX3" fmla="*/ 1942 w 1942"/>
                <a:gd name="connsiteY3" fmla="*/ 560 h 560"/>
                <a:gd name="connsiteX4" fmla="*/ 1754 w 1942"/>
                <a:gd name="connsiteY4" fmla="*/ 0 h 56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2" h="560">
                  <a:moveTo>
                    <a:pt x="1754" y="0"/>
                  </a:moveTo>
                  <a:lnTo>
                    <a:pt x="0" y="367"/>
                  </a:lnTo>
                  <a:lnTo>
                    <a:pt x="0" y="560"/>
                  </a:lnTo>
                  <a:lnTo>
                    <a:pt x="1942" y="560"/>
                  </a:lnTo>
                  <a:cubicBezTo>
                    <a:pt x="1879" y="373"/>
                    <a:pt x="1817" y="187"/>
                    <a:pt x="1754" y="0"/>
                  </a:cubicBezTo>
                </a:path>
              </a:pathLst>
            </a:custGeom>
            <a:solidFill>
              <a:schemeClr val="accent2">
                <a:lumMod val="50000"/>
                <a:lumOff val="50000"/>
                <a:alpha val="20000"/>
              </a:schemeClr>
            </a:solidFill>
            <a:ln w="9525">
              <a:noFill/>
              <a:round/>
            </a:ln>
          </p:spPr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grpSp>
          <p:nvGrpSpPr>
            <p:cNvPr id="23" name=""/>
            <p:cNvGrpSpPr/>
            <p:nvPr/>
          </p:nvGrpSpPr>
          <p:grpSpPr>
            <a:xfrm rot="0">
              <a:off x="-1" y="0"/>
              <a:ext cx="9144001" cy="6858001"/>
              <a:chOff x="-1" y="0"/>
              <a:chExt cx="9144001" cy="6858001"/>
            </a:xfrm>
          </p:grpSpPr>
          <p:sp>
            <p:nvSpPr>
              <p:cNvPr id="24" name=""/>
              <p:cNvSpPr/>
              <p:nvPr/>
            </p:nvSpPr>
            <p:spPr>
              <a:xfrm>
                <a:off x="428023" y="0"/>
                <a:ext cx="2026194" cy="3135635"/>
              </a:xfrm>
              <a:custGeom>
                <a:avLst/>
                <a:gdLst/>
                <a:cxnLst>
                  <a:cxn ang="0">
                    <a:pos x="1704" y="0"/>
                  </a:cxn>
                  <a:cxn ang="0">
                    <a:pos x="0" y="0"/>
                  </a:cxn>
                  <a:cxn ang="0">
                    <a:pos x="711" y="2609"/>
                  </a:cxn>
                  <a:cxn ang="0">
                    <a:pos x="1704" y="0"/>
                  </a:cxn>
                </a:cxnLst>
                <a:rect l="0" t="0" r="r" b="b"/>
                <a:pathLst>
                  <a:path w="1704" h="2609">
                    <a:moveTo>
                      <a:pt x="1704" y="0"/>
                    </a:moveTo>
                    <a:lnTo>
                      <a:pt x="0" y="0"/>
                    </a:lnTo>
                    <a:lnTo>
                      <a:pt x="711" y="2609"/>
                    </a:lnTo>
                    <a:lnTo>
                      <a:pt x="1704" y="0"/>
                    </a:lnTo>
                  </a:path>
                </a:pathLst>
              </a:custGeom>
              <a:solidFill>
                <a:schemeClr val="accent1">
                  <a:lumMod val="40000"/>
                  <a:lumOff val="60000"/>
                  <a:alpha val="80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25" name=""/>
              <p:cNvSpPr/>
              <p:nvPr/>
            </p:nvSpPr>
            <p:spPr>
              <a:xfrm>
                <a:off x="6028605" y="4696234"/>
                <a:ext cx="3115394" cy="1976604"/>
              </a:xfrm>
              <a:custGeom>
                <a:avLst/>
                <a:gdLst>
                  <a:gd name="connsiteX0" fmla="*/ 2610 w 2610"/>
                  <a:gd name="connsiteY0" fmla="*/ 0 h 1645"/>
                  <a:gd name="connsiteX1" fmla="*/ 0 w 2610"/>
                  <a:gd name="connsiteY1" fmla="*/ 535 h 1645"/>
                  <a:gd name="connsiteX2" fmla="*/ 2610 w 2610"/>
                  <a:gd name="connsiteY2" fmla="*/ 1645 h 1645"/>
                  <a:gd name="connsiteX3" fmla="*/ 2610 w 2610"/>
                  <a:gd name="connsiteY3" fmla="*/ 0 h 1645"/>
                  <a:gd name="connsiteX0" fmla="*/ 2620 w 2620"/>
                  <a:gd name="connsiteY0" fmla="*/ 0 h 1645"/>
                  <a:gd name="connsiteX1" fmla="*/ 0 w 2620"/>
                  <a:gd name="connsiteY1" fmla="*/ 541 h 1645"/>
                  <a:gd name="connsiteX2" fmla="*/ 2620 w 2620"/>
                  <a:gd name="connsiteY2" fmla="*/ 1645 h 1645"/>
                  <a:gd name="connsiteX3" fmla="*/ 2620 w 2620"/>
                  <a:gd name="connsiteY3" fmla="*/ 0 h 1645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20" h="1645">
                    <a:moveTo>
                      <a:pt x="2620" y="0"/>
                    </a:moveTo>
                    <a:lnTo>
                      <a:pt x="0" y="541"/>
                    </a:lnTo>
                    <a:lnTo>
                      <a:pt x="2620" y="1645"/>
                    </a:lnTo>
                    <a:lnTo>
                      <a:pt x="2620" y="0"/>
                    </a:lnTo>
                  </a:path>
                </a:pathLst>
              </a:custGeom>
              <a:solidFill>
                <a:schemeClr val="accent2">
                  <a:lumMod val="50000"/>
                  <a:lumOff val="50000"/>
                  <a:alpha val="20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26" name=""/>
              <p:cNvSpPr/>
              <p:nvPr/>
            </p:nvSpPr>
            <p:spPr>
              <a:xfrm>
                <a:off x="2089194" y="5345523"/>
                <a:ext cx="7054806" cy="1512478"/>
              </a:xfrm>
              <a:custGeom>
                <a:avLst/>
                <a:gdLst>
                  <a:gd name="connsiteX0" fmla="*/ 3491 w 5944"/>
                  <a:gd name="connsiteY0" fmla="*/ 0 h 1293"/>
                  <a:gd name="connsiteX1" fmla="*/ 0 w 5944"/>
                  <a:gd name="connsiteY1" fmla="*/ 743 h 1293"/>
                  <a:gd name="connsiteX2" fmla="*/ 194 w 5944"/>
                  <a:gd name="connsiteY2" fmla="*/ 1293 h 1293"/>
                  <a:gd name="connsiteX3" fmla="*/ 5944 w 5944"/>
                  <a:gd name="connsiteY3" fmla="*/ 1293 h 1293"/>
                  <a:gd name="connsiteX4" fmla="*/ 5944 w 5944"/>
                  <a:gd name="connsiteY4" fmla="*/ 1130 h 1293"/>
                  <a:gd name="connsiteX5" fmla="*/ 3491 w 5944"/>
                  <a:gd name="connsiteY5" fmla="*/ 0 h 1293"/>
                  <a:gd name="connsiteX0" fmla="*/ 3347 w 5944"/>
                  <a:gd name="connsiteY0" fmla="*/ 0 h 1264"/>
                  <a:gd name="connsiteX1" fmla="*/ 0 w 5944"/>
                  <a:gd name="connsiteY1" fmla="*/ 714 h 1264"/>
                  <a:gd name="connsiteX2" fmla="*/ 194 w 5944"/>
                  <a:gd name="connsiteY2" fmla="*/ 1264 h 1264"/>
                  <a:gd name="connsiteX3" fmla="*/ 5944 w 5944"/>
                  <a:gd name="connsiteY3" fmla="*/ 1264 h 1264"/>
                  <a:gd name="connsiteX4" fmla="*/ 5944 w 5944"/>
                  <a:gd name="connsiteY4" fmla="*/ 1101 h 1264"/>
                  <a:gd name="connsiteX5" fmla="*/ 3347 w 5944"/>
                  <a:gd name="connsiteY5" fmla="*/ 0 h 1264"/>
                  <a:gd name="connsiteX0" fmla="*/ 3323 w 5944"/>
                  <a:gd name="connsiteY0" fmla="*/ 0 h 1257"/>
                  <a:gd name="connsiteX1" fmla="*/ 0 w 5944"/>
                  <a:gd name="connsiteY1" fmla="*/ 707 h 1257"/>
                  <a:gd name="connsiteX2" fmla="*/ 194 w 5944"/>
                  <a:gd name="connsiteY2" fmla="*/ 1257 h 1257"/>
                  <a:gd name="connsiteX3" fmla="*/ 5944 w 5944"/>
                  <a:gd name="connsiteY3" fmla="*/ 1257 h 1257"/>
                  <a:gd name="connsiteX4" fmla="*/ 5944 w 5944"/>
                  <a:gd name="connsiteY4" fmla="*/ 1094 h 1257"/>
                  <a:gd name="connsiteX5" fmla="*/ 3323 w 5944"/>
                  <a:gd name="connsiteY5" fmla="*/ 0 h 1257"/>
                  <a:gd name="connsiteX0" fmla="*/ 3279 w 5900"/>
                  <a:gd name="connsiteY0" fmla="*/ 0 h 1257"/>
                  <a:gd name="connsiteX1" fmla="*/ 0 w 5900"/>
                  <a:gd name="connsiteY1" fmla="*/ 687 h 1257"/>
                  <a:gd name="connsiteX2" fmla="*/ 150 w 5900"/>
                  <a:gd name="connsiteY2" fmla="*/ 1257 h 1257"/>
                  <a:gd name="connsiteX3" fmla="*/ 5900 w 5900"/>
                  <a:gd name="connsiteY3" fmla="*/ 1257 h 1257"/>
                  <a:gd name="connsiteX4" fmla="*/ 5900 w 5900"/>
                  <a:gd name="connsiteY4" fmla="*/ 1094 h 1257"/>
                  <a:gd name="connsiteX5" fmla="*/ 3279 w 5900"/>
                  <a:gd name="connsiteY5" fmla="*/ 0 h 1257"/>
                  <a:gd name="connsiteX0" fmla="*/ 3314 w 5935"/>
                  <a:gd name="connsiteY0" fmla="*/ 0 h 1257"/>
                  <a:gd name="connsiteX1" fmla="*/ 0 w 5935"/>
                  <a:gd name="connsiteY1" fmla="*/ 695 h 1257"/>
                  <a:gd name="connsiteX2" fmla="*/ 185 w 5935"/>
                  <a:gd name="connsiteY2" fmla="*/ 1257 h 1257"/>
                  <a:gd name="connsiteX3" fmla="*/ 5935 w 5935"/>
                  <a:gd name="connsiteY3" fmla="*/ 1257 h 1257"/>
                  <a:gd name="connsiteX4" fmla="*/ 5935 w 5935"/>
                  <a:gd name="connsiteY4" fmla="*/ 1094 h 1257"/>
                  <a:gd name="connsiteX5" fmla="*/ 3314 w 5935"/>
                  <a:gd name="connsiteY5" fmla="*/ 0 h 1257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935" h="1257">
                    <a:moveTo>
                      <a:pt x="3314" y="0"/>
                    </a:moveTo>
                    <a:lnTo>
                      <a:pt x="0" y="695"/>
                    </a:lnTo>
                    <a:cubicBezTo>
                      <a:pt x="51" y="884"/>
                      <a:pt x="134" y="1068"/>
                      <a:pt x="185" y="1257"/>
                    </a:cubicBezTo>
                    <a:lnTo>
                      <a:pt x="5935" y="1257"/>
                    </a:lnTo>
                    <a:lnTo>
                      <a:pt x="5935" y="1094"/>
                    </a:lnTo>
                    <a:lnTo>
                      <a:pt x="3314" y="0"/>
                    </a:lnTo>
                  </a:path>
                </a:pathLst>
              </a:custGeom>
              <a:solidFill>
                <a:schemeClr val="accent2">
                  <a:lumMod val="25000"/>
                  <a:lumOff val="75000"/>
                  <a:alpha val="32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27" name=""/>
              <p:cNvSpPr/>
              <p:nvPr/>
            </p:nvSpPr>
            <p:spPr>
              <a:xfrm>
                <a:off x="-1" y="0"/>
                <a:ext cx="1281830" cy="3138040"/>
              </a:xfrm>
              <a:custGeom>
                <a:avLst/>
                <a:gdLst/>
                <a:cxnLst>
                  <a:cxn ang="0">
                    <a:pos x="372" y="0"/>
                  </a:cxn>
                  <a:cxn ang="0">
                    <a:pos x="1" y="0"/>
                  </a:cxn>
                  <a:cxn ang="0">
                    <a:pos x="0" y="2121"/>
                  </a:cxn>
                  <a:cxn ang="0">
                    <a:pos x="1078" y="2609"/>
                  </a:cxn>
                  <a:cxn ang="0">
                    <a:pos x="372" y="0"/>
                  </a:cxn>
                </a:cxnLst>
                <a:rect l="0" t="0" r="r" b="b"/>
                <a:pathLst>
                  <a:path w="1078" h="2609">
                    <a:moveTo>
                      <a:pt x="372" y="0"/>
                    </a:moveTo>
                    <a:lnTo>
                      <a:pt x="1" y="0"/>
                    </a:lnTo>
                    <a:lnTo>
                      <a:pt x="0" y="2121"/>
                    </a:lnTo>
                    <a:lnTo>
                      <a:pt x="1078" y="2609"/>
                    </a:lnTo>
                    <a:lnTo>
                      <a:pt x="372" y="0"/>
                    </a:lnTo>
                  </a:path>
                </a:pathLst>
              </a:custGeom>
              <a:solidFill>
                <a:schemeClr val="accent1">
                  <a:alpha val="75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28" name=""/>
              <p:cNvSpPr/>
              <p:nvPr/>
            </p:nvSpPr>
            <p:spPr>
              <a:xfrm>
                <a:off x="0" y="3143248"/>
                <a:ext cx="2088010" cy="3477128"/>
              </a:xfrm>
              <a:custGeom>
                <a:avLst/>
                <a:gdLst>
                  <a:gd name="connsiteX0" fmla="*/ 1074 w 1779"/>
                  <a:gd name="connsiteY0" fmla="*/ 0 h 2893"/>
                  <a:gd name="connsiteX1" fmla="*/ 0 w 1779"/>
                  <a:gd name="connsiteY1" fmla="*/ 2893 h 2893"/>
                  <a:gd name="connsiteX2" fmla="*/ 1779 w 1779"/>
                  <a:gd name="connsiteY2" fmla="*/ 2604 h 2893"/>
                  <a:gd name="connsiteX3" fmla="*/ 1074 w 1779"/>
                  <a:gd name="connsiteY3" fmla="*/ 0 h 2893"/>
                  <a:gd name="connsiteX0" fmla="*/ 1074 w 1755"/>
                  <a:gd name="connsiteY0" fmla="*/ 0 h 2893"/>
                  <a:gd name="connsiteX1" fmla="*/ 0 w 1755"/>
                  <a:gd name="connsiteY1" fmla="*/ 2893 h 2893"/>
                  <a:gd name="connsiteX2" fmla="*/ 1755 w 1755"/>
                  <a:gd name="connsiteY2" fmla="*/ 2525 h 2893"/>
                  <a:gd name="connsiteX3" fmla="*/ 1074 w 1755"/>
                  <a:gd name="connsiteY3" fmla="*/ 0 h 2893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55" h="2893">
                    <a:moveTo>
                      <a:pt x="1074" y="0"/>
                    </a:moveTo>
                    <a:lnTo>
                      <a:pt x="0" y="2893"/>
                    </a:lnTo>
                    <a:lnTo>
                      <a:pt x="1755" y="2525"/>
                    </a:lnTo>
                    <a:lnTo>
                      <a:pt x="1074" y="0"/>
                    </a:lnTo>
                  </a:path>
                </a:pathLst>
              </a:custGeom>
              <a:solidFill>
                <a:schemeClr val="accent2">
                  <a:lumMod val="50000"/>
                  <a:lumOff val="50000"/>
                  <a:alpha val="25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29" name=""/>
              <p:cNvSpPr/>
              <p:nvPr/>
            </p:nvSpPr>
            <p:spPr>
              <a:xfrm>
                <a:off x="1" y="2551106"/>
                <a:ext cx="1285398" cy="4121532"/>
              </a:xfrm>
              <a:custGeom>
                <a:avLst/>
                <a:gdLst>
                  <a:gd name="connsiteX0" fmla="*/ 0 w 1081"/>
                  <a:gd name="connsiteY0" fmla="*/ 0 h 3427"/>
                  <a:gd name="connsiteX1" fmla="*/ 0 w 1081"/>
                  <a:gd name="connsiteY1" fmla="*/ 3427 h 3427"/>
                  <a:gd name="connsiteX2" fmla="*/ 1081 w 1081"/>
                  <a:gd name="connsiteY2" fmla="*/ 490 h 3427"/>
                  <a:gd name="connsiteX3" fmla="*/ 0 w 1081"/>
                  <a:gd name="connsiteY3" fmla="*/ 0 h 3427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81" h="3427">
                    <a:moveTo>
                      <a:pt x="0" y="0"/>
                    </a:moveTo>
                    <a:lnTo>
                      <a:pt x="0" y="3427"/>
                    </a:lnTo>
                    <a:lnTo>
                      <a:pt x="1081" y="49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accent3">
                  <a:lumMod val="40000"/>
                  <a:lumOff val="60000"/>
                  <a:alpha val="50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algn="ctr">
                  <a:defRPr lang="ko-KR" altLang="en-US"/>
                </a:pPr>
                <a:endParaRPr lang="en-US" altLang="ko-KR"/>
              </a:p>
            </p:txBody>
          </p:sp>
        </p:grpSp>
      </p:grpSp>
      <p:sp>
        <p:nvSpPr>
          <p:cNvPr id="2" name=""/>
          <p:cNvSpPr>
            <a:spLocks noGrp="1"/>
          </p:cNvSpPr>
          <p:nvPr>
            <p:ph type="title" idx="0"/>
          </p:nvPr>
        </p:nvSpPr>
        <p:spPr>
          <a:xfrm>
            <a:off x="952463" y="4772044"/>
            <a:ext cx="8680109" cy="566738"/>
          </a:xfrm>
        </p:spPr>
        <p:txBody>
          <a:bodyPr anchor="b"/>
          <a:lstStyle>
            <a:lvl1pPr algn="l">
              <a:defRPr sz="2000" b="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 noTextEdit="1"/>
          </p:cNvSpPr>
          <p:nvPr>
            <p:ph type="pic" idx="1"/>
          </p:nvPr>
        </p:nvSpPr>
        <p:spPr>
          <a:xfrm>
            <a:off x="952463" y="584219"/>
            <a:ext cx="868010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 lang="ko-KR" altLang="en-US"/>
            </a:pPr>
            <a:r>
              <a:rPr lang="ko-KR" altLang="en-US"/>
              <a:t>그림을 추가하려면 아이콘을 클릭하십시오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body" sz="half" idx="2"/>
          </p:nvPr>
        </p:nvSpPr>
        <p:spPr>
          <a:xfrm>
            <a:off x="952463" y="5338782"/>
            <a:ext cx="868010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</p:txBody>
      </p:sp>
      <p:sp>
        <p:nvSpPr>
          <p:cNvPr id="18" name=""/>
          <p:cNvSpPr>
            <a:spLocks noGrp="1"/>
          </p:cNvSpPr>
          <p:nvPr>
            <p:ph type="dt" sz="half" idx="10"/>
          </p:nvPr>
        </p:nvSpPr>
        <p:spPr>
          <a:xfrm>
            <a:off x="431799" y="6356350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>
              <a:defRPr lang="ko-KR" altLang="en-US"/>
            </a:pPr>
            <a:fld id="{8C9FE912-2C94-4152-970B-97CA7CEA7709}" type="datetime1">
              <a:rPr lang="ko-KR" altLang="en-US"/>
              <a:pPr>
                <a:defRPr lang="ko-KR" altLang="en-US"/>
              </a:pPr>
              <a:t>2015-07-13</a:t>
            </a:fld>
            <a:endParaRPr lang="ko-KR" altLang="en-US"/>
          </a:p>
        </p:txBody>
      </p:sp>
      <p:sp>
        <p:nvSpPr>
          <p:cNvPr id="19" name="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0" name=""/>
          <p:cNvSpPr>
            <a:spLocks noGrp="1"/>
          </p:cNvSpPr>
          <p:nvPr>
            <p:ph type="sldNum" sz="quarter" idx="4"/>
          </p:nvPr>
        </p:nvSpPr>
        <p:spPr>
          <a:xfrm>
            <a:off x="8889999" y="6356350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>
              <a:defRPr lang="ko-KR" altLang="en-US"/>
            </a:pPr>
            <a:fld id="{AD22CD3B-FDDF-4998-970C-76E6E0BEC65F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319012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1" matchingName="간지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"/>
          <p:cNvGrpSpPr/>
          <p:nvPr/>
        </p:nvGrpSpPr>
        <p:grpSpPr>
          <a:xfrm rot="0">
            <a:off x="-73151" y="3141915"/>
            <a:ext cx="12305046" cy="3716088"/>
            <a:chOff x="-28573" y="3141915"/>
            <a:chExt cx="9202494" cy="3716088"/>
          </a:xfrm>
        </p:grpSpPr>
        <p:sp>
          <p:nvSpPr>
            <p:cNvPr id="7" name=""/>
            <p:cNvSpPr/>
            <p:nvPr/>
          </p:nvSpPr>
          <p:spPr>
            <a:xfrm rot="10800000" flipH="1">
              <a:off x="13414" y="5642418"/>
              <a:ext cx="3665145" cy="1074154"/>
            </a:xfrm>
            <a:custGeom>
              <a:avLst/>
              <a:gdLst>
                <a:gd name="connsiteX0" fmla="*/ 0 w 2715"/>
                <a:gd name="connsiteY0" fmla="*/ 0 h 1458"/>
                <a:gd name="connsiteX1" fmla="*/ 0 w 2715"/>
                <a:gd name="connsiteY1" fmla="*/ 1458 h 1458"/>
                <a:gd name="connsiteX2" fmla="*/ 2715 w 2715"/>
                <a:gd name="connsiteY2" fmla="*/ 909 h 1458"/>
                <a:gd name="connsiteX3" fmla="*/ 0 w 2715"/>
                <a:gd name="connsiteY3" fmla="*/ 0 h 1458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15" h="1458">
                  <a:moveTo>
                    <a:pt x="0" y="0"/>
                  </a:moveTo>
                  <a:lnTo>
                    <a:pt x="0" y="1458"/>
                  </a:lnTo>
                  <a:lnTo>
                    <a:pt x="2715" y="909"/>
                  </a:lnTo>
                  <a:lnTo>
                    <a:pt x="0" y="0"/>
                  </a:lnTo>
                </a:path>
              </a:pathLst>
            </a:custGeom>
            <a:solidFill>
              <a:schemeClr val="accent1">
                <a:lumMod val="40000"/>
                <a:lumOff val="60000"/>
                <a:alpha val="58000"/>
              </a:schemeClr>
            </a:solidFill>
            <a:ln w="9525">
              <a:noFill/>
              <a:round/>
            </a:ln>
          </p:spPr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8" name=""/>
            <p:cNvSpPr/>
            <p:nvPr/>
          </p:nvSpPr>
          <p:spPr>
            <a:xfrm rot="10800000" flipH="1">
              <a:off x="8017" y="6050481"/>
              <a:ext cx="9154154" cy="807522"/>
            </a:xfrm>
            <a:custGeom>
              <a:avLst/>
              <a:gdLst>
                <a:gd name="connsiteX0" fmla="*/ 6774 w 6774"/>
                <a:gd name="connsiteY0" fmla="*/ 0 h 1097"/>
                <a:gd name="connsiteX1" fmla="*/ 0 w 6774"/>
                <a:gd name="connsiteY1" fmla="*/ 0 h 1097"/>
                <a:gd name="connsiteX2" fmla="*/ 0 w 6774"/>
                <a:gd name="connsiteY2" fmla="*/ 194 h 1097"/>
                <a:gd name="connsiteX3" fmla="*/ 2700 w 6774"/>
                <a:gd name="connsiteY3" fmla="*/ 1097 h 1097"/>
                <a:gd name="connsiteX4" fmla="*/ 6774 w 6774"/>
                <a:gd name="connsiteY4" fmla="*/ 282 h 1097"/>
                <a:gd name="connsiteX5" fmla="*/ 6774 w 6774"/>
                <a:gd name="connsiteY5" fmla="*/ 0 h 1097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74" h="1097">
                  <a:moveTo>
                    <a:pt x="6774" y="0"/>
                  </a:moveTo>
                  <a:lnTo>
                    <a:pt x="0" y="0"/>
                  </a:lnTo>
                  <a:lnTo>
                    <a:pt x="0" y="194"/>
                  </a:lnTo>
                  <a:lnTo>
                    <a:pt x="2700" y="1097"/>
                  </a:lnTo>
                  <a:lnTo>
                    <a:pt x="6774" y="282"/>
                  </a:lnTo>
                  <a:lnTo>
                    <a:pt x="6774" y="0"/>
                  </a:lnTo>
                </a:path>
              </a:pathLst>
            </a:custGeom>
            <a:solidFill>
              <a:schemeClr val="accent1">
                <a:alpha val="75000"/>
              </a:schemeClr>
            </a:solidFill>
            <a:ln w="9525">
              <a:noFill/>
              <a:round/>
            </a:ln>
          </p:spPr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9" name=""/>
            <p:cNvSpPr/>
            <p:nvPr/>
          </p:nvSpPr>
          <p:spPr>
            <a:xfrm rot="10800000">
              <a:off x="3672466" y="5238365"/>
              <a:ext cx="5490588" cy="1410652"/>
            </a:xfrm>
            <a:custGeom>
              <a:avLst/>
              <a:gdLst>
                <a:gd name="connsiteX0" fmla="*/ 5486400 w 5486400"/>
                <a:gd name="connsiteY0" fmla="*/ 1085850 h 2571750"/>
                <a:gd name="connsiteX1" fmla="*/ 0 w 5486400"/>
                <a:gd name="connsiteY1" fmla="*/ 0 h 2571750"/>
                <a:gd name="connsiteX2" fmla="*/ 0 w 5486400"/>
                <a:gd name="connsiteY2" fmla="*/ 95250 h 2571750"/>
                <a:gd name="connsiteX3" fmla="*/ 923925 w 5486400"/>
                <a:gd name="connsiteY3" fmla="*/ 2571750 h 2571750"/>
                <a:gd name="connsiteX4" fmla="*/ 5486400 w 5486400"/>
                <a:gd name="connsiteY4" fmla="*/ 1085850 h 257175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86400" h="2571750">
                  <a:moveTo>
                    <a:pt x="5486400" y="1085850"/>
                  </a:moveTo>
                  <a:lnTo>
                    <a:pt x="0" y="0"/>
                  </a:lnTo>
                  <a:lnTo>
                    <a:pt x="0" y="95250"/>
                  </a:lnTo>
                  <a:lnTo>
                    <a:pt x="923925" y="2571750"/>
                  </a:lnTo>
                  <a:lnTo>
                    <a:pt x="5486400" y="1085850"/>
                  </a:lnTo>
                </a:path>
              </a:pathLst>
            </a:custGeom>
            <a:solidFill>
              <a:srgbClr val="b6b8ba">
                <a:alpha val="38000"/>
              </a:srgbClr>
            </a:solidFill>
            <a:ln w="9525">
              <a:noFill/>
              <a:round/>
            </a:ln>
          </p:spPr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10" name=""/>
            <p:cNvSpPr/>
            <p:nvPr/>
          </p:nvSpPr>
          <p:spPr>
            <a:xfrm rot="10800000">
              <a:off x="8223873" y="5072085"/>
              <a:ext cx="931774" cy="1548196"/>
            </a:xfrm>
            <a:custGeom>
              <a:avLst/>
              <a:gdLst>
                <a:gd name="connsiteX0" fmla="*/ 0 w 571472"/>
                <a:gd name="connsiteY0" fmla="*/ 3000396 h 3000396"/>
                <a:gd name="connsiteX1" fmla="*/ 0 w 571472"/>
                <a:gd name="connsiteY1" fmla="*/ 0 h 3000396"/>
                <a:gd name="connsiteX2" fmla="*/ 571472 w 571472"/>
                <a:gd name="connsiteY2" fmla="*/ 3000396 h 3000396"/>
                <a:gd name="connsiteX3" fmla="*/ 0 w 571472"/>
                <a:gd name="connsiteY3" fmla="*/ 3000396 h 3000396"/>
                <a:gd name="connsiteX0" fmla="*/ 0 w 928630"/>
                <a:gd name="connsiteY0" fmla="*/ 3000396 h 3000396"/>
                <a:gd name="connsiteX1" fmla="*/ 0 w 928630"/>
                <a:gd name="connsiteY1" fmla="*/ 0 h 3000396"/>
                <a:gd name="connsiteX2" fmla="*/ 928630 w 928630"/>
                <a:gd name="connsiteY2" fmla="*/ 2500306 h 3000396"/>
                <a:gd name="connsiteX3" fmla="*/ 0 w 928630"/>
                <a:gd name="connsiteY3" fmla="*/ 3000396 h 3000396"/>
                <a:gd name="connsiteX0" fmla="*/ 9525 w 938155"/>
                <a:gd name="connsiteY0" fmla="*/ 3067050 h 3067050"/>
                <a:gd name="connsiteX1" fmla="*/ 0 w 938155"/>
                <a:gd name="connsiteY1" fmla="*/ 0 h 3067050"/>
                <a:gd name="connsiteX2" fmla="*/ 938155 w 938155"/>
                <a:gd name="connsiteY2" fmla="*/ 2566960 h 3067050"/>
                <a:gd name="connsiteX3" fmla="*/ 9525 w 938155"/>
                <a:gd name="connsiteY3" fmla="*/ 3067050 h 3067050"/>
                <a:gd name="connsiteX0" fmla="*/ 9525 w 928656"/>
                <a:gd name="connsiteY0" fmla="*/ 3067050 h 3067050"/>
                <a:gd name="connsiteX1" fmla="*/ 0 w 928656"/>
                <a:gd name="connsiteY1" fmla="*/ 0 h 3067050"/>
                <a:gd name="connsiteX2" fmla="*/ 928656 w 928656"/>
                <a:gd name="connsiteY2" fmla="*/ 2509813 h 3067050"/>
                <a:gd name="connsiteX3" fmla="*/ 9525 w 928656"/>
                <a:gd name="connsiteY3" fmla="*/ 3067050 h 3067050"/>
                <a:gd name="connsiteX0" fmla="*/ 9525 w 928656"/>
                <a:gd name="connsiteY0" fmla="*/ 2709836 h 2709836"/>
                <a:gd name="connsiteX1" fmla="*/ 0 w 928656"/>
                <a:gd name="connsiteY1" fmla="*/ 0 h 2709836"/>
                <a:gd name="connsiteX2" fmla="*/ 928656 w 928656"/>
                <a:gd name="connsiteY2" fmla="*/ 2509813 h 2709836"/>
                <a:gd name="connsiteX3" fmla="*/ 9525 w 928656"/>
                <a:gd name="connsiteY3" fmla="*/ 2709836 h 2709836"/>
                <a:gd name="connsiteX0" fmla="*/ 9525 w 928656"/>
                <a:gd name="connsiteY0" fmla="*/ 2781250 h 2781250"/>
                <a:gd name="connsiteX1" fmla="*/ 0 w 928656"/>
                <a:gd name="connsiteY1" fmla="*/ 0 h 2781250"/>
                <a:gd name="connsiteX2" fmla="*/ 928656 w 928656"/>
                <a:gd name="connsiteY2" fmla="*/ 2509813 h 2781250"/>
                <a:gd name="connsiteX3" fmla="*/ 9525 w 928656"/>
                <a:gd name="connsiteY3" fmla="*/ 2781250 h 2781250"/>
                <a:gd name="connsiteX0" fmla="*/ 9525 w 928656"/>
                <a:gd name="connsiteY0" fmla="*/ 2924102 h 2924102"/>
                <a:gd name="connsiteX1" fmla="*/ 0 w 928656"/>
                <a:gd name="connsiteY1" fmla="*/ 0 h 2924102"/>
                <a:gd name="connsiteX2" fmla="*/ 928656 w 928656"/>
                <a:gd name="connsiteY2" fmla="*/ 2509813 h 2924102"/>
                <a:gd name="connsiteX3" fmla="*/ 9525 w 928656"/>
                <a:gd name="connsiteY3" fmla="*/ 2924102 h 2924102"/>
                <a:gd name="connsiteX0" fmla="*/ 9525 w 931063"/>
                <a:gd name="connsiteY0" fmla="*/ 2924102 h 2924102"/>
                <a:gd name="connsiteX1" fmla="*/ 0 w 931063"/>
                <a:gd name="connsiteY1" fmla="*/ 0 h 2924102"/>
                <a:gd name="connsiteX2" fmla="*/ 931063 w 931063"/>
                <a:gd name="connsiteY2" fmla="*/ 2521723 h 2924102"/>
                <a:gd name="connsiteX3" fmla="*/ 9525 w 931063"/>
                <a:gd name="connsiteY3" fmla="*/ 2924102 h 2924102"/>
                <a:gd name="connsiteX0" fmla="*/ 0 w 931063"/>
                <a:gd name="connsiteY0" fmla="*/ 2805040 h 2805040"/>
                <a:gd name="connsiteX1" fmla="*/ 0 w 931063"/>
                <a:gd name="connsiteY1" fmla="*/ 0 h 2805040"/>
                <a:gd name="connsiteX2" fmla="*/ 931063 w 931063"/>
                <a:gd name="connsiteY2" fmla="*/ 2521723 h 2805040"/>
                <a:gd name="connsiteX3" fmla="*/ 0 w 931063"/>
                <a:gd name="connsiteY3" fmla="*/ 2805040 h 2805040"/>
                <a:gd name="connsiteX0" fmla="*/ 6350 w 931063"/>
                <a:gd name="connsiteY0" fmla="*/ 2822504 h 2822504"/>
                <a:gd name="connsiteX1" fmla="*/ 0 w 931063"/>
                <a:gd name="connsiteY1" fmla="*/ 0 h 2822504"/>
                <a:gd name="connsiteX2" fmla="*/ 931063 w 931063"/>
                <a:gd name="connsiteY2" fmla="*/ 2521723 h 2822504"/>
                <a:gd name="connsiteX3" fmla="*/ 6350 w 931063"/>
                <a:gd name="connsiteY3" fmla="*/ 2822504 h 2822504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1063" h="2822504">
                  <a:moveTo>
                    <a:pt x="6350" y="2822504"/>
                  </a:moveTo>
                  <a:cubicBezTo>
                    <a:pt x="4233" y="1881669"/>
                    <a:pt x="2117" y="940835"/>
                    <a:pt x="0" y="0"/>
                  </a:cubicBezTo>
                  <a:lnTo>
                    <a:pt x="931063" y="2521723"/>
                  </a:lnTo>
                  <a:lnTo>
                    <a:pt x="6350" y="2822504"/>
                  </a:lnTo>
                </a:path>
              </a:pathLst>
            </a:custGeom>
            <a:solidFill>
              <a:schemeClr val="accent2">
                <a:lumMod val="50000"/>
                <a:lumOff val="50000"/>
                <a:alpha val="65000"/>
              </a:schemeClr>
            </a:solidFill>
            <a:ln w="9525">
              <a:noFill/>
              <a:round/>
            </a:ln>
          </p:spPr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11" name=""/>
            <p:cNvSpPr/>
            <p:nvPr/>
          </p:nvSpPr>
          <p:spPr>
            <a:xfrm rot="16200000">
              <a:off x="2776226" y="337116"/>
              <a:ext cx="3592895" cy="9202494"/>
            </a:xfrm>
            <a:custGeom>
              <a:avLst/>
              <a:gdLst>
                <a:gd name="connsiteX0" fmla="*/ 0 w 500066"/>
                <a:gd name="connsiteY0" fmla="*/ 6858000 h 6858000"/>
                <a:gd name="connsiteX1" fmla="*/ 250033 w 500066"/>
                <a:gd name="connsiteY1" fmla="*/ 0 h 6858000"/>
                <a:gd name="connsiteX2" fmla="*/ 500066 w 500066"/>
                <a:gd name="connsiteY2" fmla="*/ 6858000 h 6858000"/>
                <a:gd name="connsiteX3" fmla="*/ 0 w 500066"/>
                <a:gd name="connsiteY3" fmla="*/ 6858000 h 6858000"/>
                <a:gd name="connsiteX0" fmla="*/ 1638757 w 2138823"/>
                <a:gd name="connsiteY0" fmla="*/ 6876288 h 6876288"/>
                <a:gd name="connsiteX1" fmla="*/ 0 w 2138823"/>
                <a:gd name="connsiteY1" fmla="*/ 0 h 6876288"/>
                <a:gd name="connsiteX2" fmla="*/ 2138823 w 2138823"/>
                <a:gd name="connsiteY2" fmla="*/ 6876288 h 6876288"/>
                <a:gd name="connsiteX3" fmla="*/ 1638757 w 2138823"/>
                <a:gd name="connsiteY3" fmla="*/ 6876288 h 6876288"/>
                <a:gd name="connsiteX0" fmla="*/ 1662729 w 2162795"/>
                <a:gd name="connsiteY0" fmla="*/ 6885432 h 6885432"/>
                <a:gd name="connsiteX1" fmla="*/ 0 w 2162795"/>
                <a:gd name="connsiteY1" fmla="*/ 0 h 6885432"/>
                <a:gd name="connsiteX2" fmla="*/ 2162795 w 2162795"/>
                <a:gd name="connsiteY2" fmla="*/ 6885432 h 6885432"/>
                <a:gd name="connsiteX3" fmla="*/ 1662729 w 2162795"/>
                <a:gd name="connsiteY3" fmla="*/ 6885432 h 6885432"/>
                <a:gd name="connsiteX0" fmla="*/ 1662729 w 3592895"/>
                <a:gd name="connsiteY0" fmla="*/ 6885432 h 6899132"/>
                <a:gd name="connsiteX1" fmla="*/ 0 w 3592895"/>
                <a:gd name="connsiteY1" fmla="*/ 0 h 6899132"/>
                <a:gd name="connsiteX2" fmla="*/ 3592895 w 3592895"/>
                <a:gd name="connsiteY2" fmla="*/ 6899132 h 6899132"/>
                <a:gd name="connsiteX3" fmla="*/ 1662729 w 3592895"/>
                <a:gd name="connsiteY3" fmla="*/ 6885432 h 6899132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2895" h="6899132">
                  <a:moveTo>
                    <a:pt x="1662729" y="6885432"/>
                  </a:moveTo>
                  <a:lnTo>
                    <a:pt x="0" y="0"/>
                  </a:lnTo>
                  <a:lnTo>
                    <a:pt x="3592895" y="6899132"/>
                  </a:lnTo>
                  <a:lnTo>
                    <a:pt x="1662729" y="6885432"/>
                  </a:lnTo>
                </a:path>
              </a:pathLst>
            </a:custGeom>
            <a:solidFill>
              <a:schemeClr val="accent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</p:grpSp>
      <p:sp>
        <p:nvSpPr>
          <p:cNvPr id="2" name=""/>
          <p:cNvSpPr>
            <a:spLocks noGrp="1"/>
          </p:cNvSpPr>
          <p:nvPr>
            <p:ph type="ctrTitle" idx="0"/>
          </p:nvPr>
        </p:nvSpPr>
        <p:spPr>
          <a:xfrm>
            <a:off x="330199" y="2673355"/>
            <a:ext cx="11531599" cy="1470025"/>
          </a:xfrm>
        </p:spPr>
        <p:txBody>
          <a:bodyPr/>
          <a:lstStyle>
            <a:lvl1pPr algn="ctr">
              <a:defRPr sz="5400" b="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dt" sz="half" idx="10"/>
          </p:nvPr>
        </p:nvSpPr>
        <p:spPr>
          <a:xfrm>
            <a:off x="609599" y="6356350"/>
            <a:ext cx="2844799" cy="365125"/>
          </a:xfrm>
        </p:spPr>
        <p:txBody>
          <a:bodyPr/>
          <a:lstStyle/>
          <a:p>
            <a:pPr>
              <a:defRPr lang="ko-KR" altLang="en-US"/>
            </a:pPr>
            <a:fld id="{10BF683E-EC8C-4F1E-8017-25E57E2CE77B}" type="datetime1">
              <a:rPr lang="ko-KR" altLang="en-US"/>
              <a:pPr>
                <a:defRPr lang="ko-KR" altLang="en-US"/>
              </a:pPr>
              <a:t>2015-07-13</a:t>
            </a:fld>
            <a:endParaRPr lang="en-US" altLang="en-US"/>
          </a:p>
        </p:txBody>
      </p:sp>
      <p:sp>
        <p:nvSpPr>
          <p:cNvPr id="4" name=""/>
          <p:cNvSpPr>
            <a:spLocks noGrp="1"/>
          </p:cNvSpPr>
          <p:nvPr>
            <p:ph type="ftr" sz="quarter" idx="11"/>
          </p:nvPr>
        </p:nvSpPr>
        <p:spPr>
          <a:xfrm>
            <a:off x="4165599" y="6356350"/>
            <a:ext cx="3860799" cy="365125"/>
          </a:xfrm>
        </p:spPr>
        <p:txBody>
          <a:bodyPr/>
          <a:lstStyle/>
          <a:p>
            <a:pPr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sldNum" sz="quarter" idx="12"/>
          </p:nvPr>
        </p:nvSpPr>
        <p:spPr>
          <a:xfrm>
            <a:off x="8737599" y="6356350"/>
            <a:ext cx="2844799" cy="365125"/>
          </a:xfrm>
        </p:spPr>
        <p:txBody>
          <a:bodyPr/>
          <a:lstStyle/>
          <a:p>
            <a:pPr>
              <a:defRPr lang="ko-KR" altLang="en-US"/>
            </a:pPr>
            <a:fld id="{DF28FB93-0A08-4E7D-8E63-9EFA29F1E093}" type="slidenum">
              <a:rPr lang="en-US" altLang="en-US"/>
              <a:pPr>
                <a:defRPr lang="ko-KR" altLang="en-US"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4734527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1" matchingName="목차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"/>
          <p:cNvGrpSpPr/>
          <p:nvPr/>
        </p:nvGrpSpPr>
        <p:grpSpPr>
          <a:xfrm rot="0">
            <a:off x="-1" y="0"/>
            <a:ext cx="12192001" cy="6858001"/>
            <a:chOff x="-1" y="0"/>
            <a:chExt cx="9144001" cy="6858001"/>
          </a:xfrm>
        </p:grpSpPr>
        <p:sp>
          <p:nvSpPr>
            <p:cNvPr id="8" name=""/>
            <p:cNvSpPr/>
            <p:nvPr/>
          </p:nvSpPr>
          <p:spPr>
            <a:xfrm>
              <a:off x="0" y="6184705"/>
              <a:ext cx="2309196" cy="673295"/>
            </a:xfrm>
            <a:custGeom>
              <a:avLst/>
              <a:gdLst>
                <a:gd name="connsiteX0" fmla="*/ 1754 w 1942"/>
                <a:gd name="connsiteY0" fmla="*/ 0 h 560"/>
                <a:gd name="connsiteX1" fmla="*/ 0 w 1942"/>
                <a:gd name="connsiteY1" fmla="*/ 367 h 560"/>
                <a:gd name="connsiteX2" fmla="*/ 0 w 1942"/>
                <a:gd name="connsiteY2" fmla="*/ 560 h 560"/>
                <a:gd name="connsiteX3" fmla="*/ 1942 w 1942"/>
                <a:gd name="connsiteY3" fmla="*/ 560 h 560"/>
                <a:gd name="connsiteX4" fmla="*/ 1754 w 1942"/>
                <a:gd name="connsiteY4" fmla="*/ 0 h 56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2" h="560">
                  <a:moveTo>
                    <a:pt x="1754" y="0"/>
                  </a:moveTo>
                  <a:lnTo>
                    <a:pt x="0" y="367"/>
                  </a:lnTo>
                  <a:lnTo>
                    <a:pt x="0" y="560"/>
                  </a:lnTo>
                  <a:lnTo>
                    <a:pt x="1942" y="560"/>
                  </a:lnTo>
                  <a:cubicBezTo>
                    <a:pt x="1879" y="373"/>
                    <a:pt x="1817" y="187"/>
                    <a:pt x="1754" y="0"/>
                  </a:cubicBezTo>
                </a:path>
              </a:pathLst>
            </a:custGeom>
            <a:solidFill>
              <a:srgbClr val="b6b8ba">
                <a:alpha val="49000"/>
              </a:srgbClr>
            </a:solidFill>
            <a:ln w="9525">
              <a:noFill/>
              <a:round/>
            </a:ln>
          </p:spPr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grpSp>
          <p:nvGrpSpPr>
            <p:cNvPr id="9" name=""/>
            <p:cNvGrpSpPr/>
            <p:nvPr/>
          </p:nvGrpSpPr>
          <p:grpSpPr>
            <a:xfrm rot="0">
              <a:off x="-1" y="0"/>
              <a:ext cx="9144001" cy="6858001"/>
              <a:chOff x="-1" y="0"/>
              <a:chExt cx="9144001" cy="6858001"/>
            </a:xfrm>
          </p:grpSpPr>
          <p:sp>
            <p:nvSpPr>
              <p:cNvPr id="10" name=""/>
              <p:cNvSpPr/>
              <p:nvPr/>
            </p:nvSpPr>
            <p:spPr>
              <a:xfrm>
                <a:off x="428023" y="0"/>
                <a:ext cx="2026194" cy="3135635"/>
              </a:xfrm>
              <a:custGeom>
                <a:avLst/>
                <a:gdLst/>
                <a:cxnLst>
                  <a:cxn ang="0">
                    <a:pos x="1704" y="0"/>
                  </a:cxn>
                  <a:cxn ang="0">
                    <a:pos x="0" y="0"/>
                  </a:cxn>
                  <a:cxn ang="0">
                    <a:pos x="711" y="2609"/>
                  </a:cxn>
                  <a:cxn ang="0">
                    <a:pos x="1704" y="0"/>
                  </a:cxn>
                </a:cxnLst>
                <a:rect l="0" t="0" r="r" b="b"/>
                <a:pathLst>
                  <a:path w="1704" h="2609">
                    <a:moveTo>
                      <a:pt x="1704" y="0"/>
                    </a:moveTo>
                    <a:lnTo>
                      <a:pt x="0" y="0"/>
                    </a:lnTo>
                    <a:lnTo>
                      <a:pt x="711" y="2609"/>
                    </a:lnTo>
                    <a:lnTo>
                      <a:pt x="1704" y="0"/>
                    </a:lnTo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11" name=""/>
              <p:cNvSpPr/>
              <p:nvPr/>
            </p:nvSpPr>
            <p:spPr>
              <a:xfrm>
                <a:off x="6028605" y="4696234"/>
                <a:ext cx="3115394" cy="1976604"/>
              </a:xfrm>
              <a:custGeom>
                <a:avLst/>
                <a:gdLst>
                  <a:gd name="connsiteX0" fmla="*/ 2610 w 2610"/>
                  <a:gd name="connsiteY0" fmla="*/ 0 h 1645"/>
                  <a:gd name="connsiteX1" fmla="*/ 0 w 2610"/>
                  <a:gd name="connsiteY1" fmla="*/ 535 h 1645"/>
                  <a:gd name="connsiteX2" fmla="*/ 2610 w 2610"/>
                  <a:gd name="connsiteY2" fmla="*/ 1645 h 1645"/>
                  <a:gd name="connsiteX3" fmla="*/ 2610 w 2610"/>
                  <a:gd name="connsiteY3" fmla="*/ 0 h 1645"/>
                  <a:gd name="connsiteX0" fmla="*/ 2620 w 2620"/>
                  <a:gd name="connsiteY0" fmla="*/ 0 h 1645"/>
                  <a:gd name="connsiteX1" fmla="*/ 0 w 2620"/>
                  <a:gd name="connsiteY1" fmla="*/ 541 h 1645"/>
                  <a:gd name="connsiteX2" fmla="*/ 2620 w 2620"/>
                  <a:gd name="connsiteY2" fmla="*/ 1645 h 1645"/>
                  <a:gd name="connsiteX3" fmla="*/ 2620 w 2620"/>
                  <a:gd name="connsiteY3" fmla="*/ 0 h 1645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20" h="1645">
                    <a:moveTo>
                      <a:pt x="2620" y="0"/>
                    </a:moveTo>
                    <a:lnTo>
                      <a:pt x="0" y="541"/>
                    </a:lnTo>
                    <a:lnTo>
                      <a:pt x="2620" y="1645"/>
                    </a:lnTo>
                    <a:lnTo>
                      <a:pt x="2620" y="0"/>
                    </a:lnTo>
                  </a:path>
                </a:pathLst>
              </a:custGeom>
              <a:solidFill>
                <a:srgbClr val="b6b8ba">
                  <a:alpha val="59000"/>
                </a:srgbClr>
              </a:solidFill>
              <a:ln w="9525">
                <a:noFill/>
                <a:round/>
              </a:ln>
            </p:spPr>
            <p:txBody>
              <a:bodyPr anchor="ctr"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12" name=""/>
              <p:cNvSpPr/>
              <p:nvPr/>
            </p:nvSpPr>
            <p:spPr>
              <a:xfrm>
                <a:off x="2089194" y="5345523"/>
                <a:ext cx="7054806" cy="1512478"/>
              </a:xfrm>
              <a:custGeom>
                <a:avLst/>
                <a:gdLst>
                  <a:gd name="connsiteX0" fmla="*/ 3491 w 5944"/>
                  <a:gd name="connsiteY0" fmla="*/ 0 h 1293"/>
                  <a:gd name="connsiteX1" fmla="*/ 0 w 5944"/>
                  <a:gd name="connsiteY1" fmla="*/ 743 h 1293"/>
                  <a:gd name="connsiteX2" fmla="*/ 194 w 5944"/>
                  <a:gd name="connsiteY2" fmla="*/ 1293 h 1293"/>
                  <a:gd name="connsiteX3" fmla="*/ 5944 w 5944"/>
                  <a:gd name="connsiteY3" fmla="*/ 1293 h 1293"/>
                  <a:gd name="connsiteX4" fmla="*/ 5944 w 5944"/>
                  <a:gd name="connsiteY4" fmla="*/ 1130 h 1293"/>
                  <a:gd name="connsiteX5" fmla="*/ 3491 w 5944"/>
                  <a:gd name="connsiteY5" fmla="*/ 0 h 1293"/>
                  <a:gd name="connsiteX0" fmla="*/ 3347 w 5944"/>
                  <a:gd name="connsiteY0" fmla="*/ 0 h 1264"/>
                  <a:gd name="connsiteX1" fmla="*/ 0 w 5944"/>
                  <a:gd name="connsiteY1" fmla="*/ 714 h 1264"/>
                  <a:gd name="connsiteX2" fmla="*/ 194 w 5944"/>
                  <a:gd name="connsiteY2" fmla="*/ 1264 h 1264"/>
                  <a:gd name="connsiteX3" fmla="*/ 5944 w 5944"/>
                  <a:gd name="connsiteY3" fmla="*/ 1264 h 1264"/>
                  <a:gd name="connsiteX4" fmla="*/ 5944 w 5944"/>
                  <a:gd name="connsiteY4" fmla="*/ 1101 h 1264"/>
                  <a:gd name="connsiteX5" fmla="*/ 3347 w 5944"/>
                  <a:gd name="connsiteY5" fmla="*/ 0 h 1264"/>
                  <a:gd name="connsiteX0" fmla="*/ 3323 w 5944"/>
                  <a:gd name="connsiteY0" fmla="*/ 0 h 1257"/>
                  <a:gd name="connsiteX1" fmla="*/ 0 w 5944"/>
                  <a:gd name="connsiteY1" fmla="*/ 707 h 1257"/>
                  <a:gd name="connsiteX2" fmla="*/ 194 w 5944"/>
                  <a:gd name="connsiteY2" fmla="*/ 1257 h 1257"/>
                  <a:gd name="connsiteX3" fmla="*/ 5944 w 5944"/>
                  <a:gd name="connsiteY3" fmla="*/ 1257 h 1257"/>
                  <a:gd name="connsiteX4" fmla="*/ 5944 w 5944"/>
                  <a:gd name="connsiteY4" fmla="*/ 1094 h 1257"/>
                  <a:gd name="connsiteX5" fmla="*/ 3323 w 5944"/>
                  <a:gd name="connsiteY5" fmla="*/ 0 h 1257"/>
                  <a:gd name="connsiteX0" fmla="*/ 3279 w 5900"/>
                  <a:gd name="connsiteY0" fmla="*/ 0 h 1257"/>
                  <a:gd name="connsiteX1" fmla="*/ 0 w 5900"/>
                  <a:gd name="connsiteY1" fmla="*/ 687 h 1257"/>
                  <a:gd name="connsiteX2" fmla="*/ 150 w 5900"/>
                  <a:gd name="connsiteY2" fmla="*/ 1257 h 1257"/>
                  <a:gd name="connsiteX3" fmla="*/ 5900 w 5900"/>
                  <a:gd name="connsiteY3" fmla="*/ 1257 h 1257"/>
                  <a:gd name="connsiteX4" fmla="*/ 5900 w 5900"/>
                  <a:gd name="connsiteY4" fmla="*/ 1094 h 1257"/>
                  <a:gd name="connsiteX5" fmla="*/ 3279 w 5900"/>
                  <a:gd name="connsiteY5" fmla="*/ 0 h 1257"/>
                  <a:gd name="connsiteX0" fmla="*/ 3314 w 5935"/>
                  <a:gd name="connsiteY0" fmla="*/ 0 h 1257"/>
                  <a:gd name="connsiteX1" fmla="*/ 0 w 5935"/>
                  <a:gd name="connsiteY1" fmla="*/ 695 h 1257"/>
                  <a:gd name="connsiteX2" fmla="*/ 185 w 5935"/>
                  <a:gd name="connsiteY2" fmla="*/ 1257 h 1257"/>
                  <a:gd name="connsiteX3" fmla="*/ 5935 w 5935"/>
                  <a:gd name="connsiteY3" fmla="*/ 1257 h 1257"/>
                  <a:gd name="connsiteX4" fmla="*/ 5935 w 5935"/>
                  <a:gd name="connsiteY4" fmla="*/ 1094 h 1257"/>
                  <a:gd name="connsiteX5" fmla="*/ 3314 w 5935"/>
                  <a:gd name="connsiteY5" fmla="*/ 0 h 1257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935" h="1257">
                    <a:moveTo>
                      <a:pt x="3314" y="0"/>
                    </a:moveTo>
                    <a:lnTo>
                      <a:pt x="0" y="695"/>
                    </a:lnTo>
                    <a:cubicBezTo>
                      <a:pt x="51" y="884"/>
                      <a:pt x="134" y="1068"/>
                      <a:pt x="185" y="1257"/>
                    </a:cubicBezTo>
                    <a:lnTo>
                      <a:pt x="5935" y="1257"/>
                    </a:lnTo>
                    <a:lnTo>
                      <a:pt x="5935" y="1094"/>
                    </a:lnTo>
                    <a:lnTo>
                      <a:pt x="3314" y="0"/>
                    </a:lnTo>
                  </a:path>
                </a:pathLst>
              </a:custGeom>
              <a:solidFill>
                <a:srgbClr val="b6b8ba">
                  <a:alpha val="49000"/>
                </a:srgbClr>
              </a:solidFill>
              <a:ln w="9525">
                <a:noFill/>
                <a:round/>
              </a:ln>
            </p:spPr>
            <p:txBody>
              <a:bodyPr anchor="ctr"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13" name=""/>
              <p:cNvSpPr/>
              <p:nvPr/>
            </p:nvSpPr>
            <p:spPr>
              <a:xfrm>
                <a:off x="-1" y="0"/>
                <a:ext cx="1281830" cy="3138040"/>
              </a:xfrm>
              <a:custGeom>
                <a:avLst/>
                <a:gdLst/>
                <a:cxnLst>
                  <a:cxn ang="0">
                    <a:pos x="372" y="0"/>
                  </a:cxn>
                  <a:cxn ang="0">
                    <a:pos x="1" y="0"/>
                  </a:cxn>
                  <a:cxn ang="0">
                    <a:pos x="0" y="2121"/>
                  </a:cxn>
                  <a:cxn ang="0">
                    <a:pos x="1078" y="2609"/>
                  </a:cxn>
                  <a:cxn ang="0">
                    <a:pos x="372" y="0"/>
                  </a:cxn>
                </a:cxnLst>
                <a:rect l="0" t="0" r="r" b="b"/>
                <a:pathLst>
                  <a:path w="1078" h="2609">
                    <a:moveTo>
                      <a:pt x="372" y="0"/>
                    </a:moveTo>
                    <a:lnTo>
                      <a:pt x="1" y="0"/>
                    </a:lnTo>
                    <a:lnTo>
                      <a:pt x="0" y="2121"/>
                    </a:lnTo>
                    <a:lnTo>
                      <a:pt x="1078" y="2609"/>
                    </a:lnTo>
                    <a:lnTo>
                      <a:pt x="372" y="0"/>
                    </a:lnTo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14" name=""/>
              <p:cNvSpPr/>
              <p:nvPr/>
            </p:nvSpPr>
            <p:spPr>
              <a:xfrm>
                <a:off x="0" y="3143248"/>
                <a:ext cx="2088010" cy="3477128"/>
              </a:xfrm>
              <a:custGeom>
                <a:avLst/>
                <a:gdLst>
                  <a:gd name="connsiteX0" fmla="*/ 1074 w 1779"/>
                  <a:gd name="connsiteY0" fmla="*/ 0 h 2893"/>
                  <a:gd name="connsiteX1" fmla="*/ 0 w 1779"/>
                  <a:gd name="connsiteY1" fmla="*/ 2893 h 2893"/>
                  <a:gd name="connsiteX2" fmla="*/ 1779 w 1779"/>
                  <a:gd name="connsiteY2" fmla="*/ 2604 h 2893"/>
                  <a:gd name="connsiteX3" fmla="*/ 1074 w 1779"/>
                  <a:gd name="connsiteY3" fmla="*/ 0 h 2893"/>
                  <a:gd name="connsiteX0" fmla="*/ 1074 w 1755"/>
                  <a:gd name="connsiteY0" fmla="*/ 0 h 2893"/>
                  <a:gd name="connsiteX1" fmla="*/ 0 w 1755"/>
                  <a:gd name="connsiteY1" fmla="*/ 2893 h 2893"/>
                  <a:gd name="connsiteX2" fmla="*/ 1755 w 1755"/>
                  <a:gd name="connsiteY2" fmla="*/ 2525 h 2893"/>
                  <a:gd name="connsiteX3" fmla="*/ 1074 w 1755"/>
                  <a:gd name="connsiteY3" fmla="*/ 0 h 2893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55" h="2893">
                    <a:moveTo>
                      <a:pt x="1074" y="0"/>
                    </a:moveTo>
                    <a:lnTo>
                      <a:pt x="0" y="2893"/>
                    </a:lnTo>
                    <a:lnTo>
                      <a:pt x="1755" y="2525"/>
                    </a:lnTo>
                    <a:lnTo>
                      <a:pt x="1074" y="0"/>
                    </a:lnTo>
                  </a:path>
                </a:pathLst>
              </a:custGeom>
              <a:solidFill>
                <a:schemeClr val="accent5">
                  <a:alpha val="71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15" name=""/>
              <p:cNvSpPr/>
              <p:nvPr/>
            </p:nvSpPr>
            <p:spPr>
              <a:xfrm>
                <a:off x="1" y="2551106"/>
                <a:ext cx="1285398" cy="4121532"/>
              </a:xfrm>
              <a:custGeom>
                <a:avLst/>
                <a:gdLst>
                  <a:gd name="connsiteX0" fmla="*/ 0 w 1081"/>
                  <a:gd name="connsiteY0" fmla="*/ 0 h 3427"/>
                  <a:gd name="connsiteX1" fmla="*/ 0 w 1081"/>
                  <a:gd name="connsiteY1" fmla="*/ 3427 h 3427"/>
                  <a:gd name="connsiteX2" fmla="*/ 1081 w 1081"/>
                  <a:gd name="connsiteY2" fmla="*/ 490 h 3427"/>
                  <a:gd name="connsiteX3" fmla="*/ 0 w 1081"/>
                  <a:gd name="connsiteY3" fmla="*/ 0 h 3427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81" h="3427">
                    <a:moveTo>
                      <a:pt x="0" y="0"/>
                    </a:moveTo>
                    <a:lnTo>
                      <a:pt x="0" y="3427"/>
                    </a:lnTo>
                    <a:lnTo>
                      <a:pt x="1081" y="49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algn="ctr">
                  <a:defRPr lang="ko-KR" altLang="en-US"/>
                </a:pPr>
                <a:endParaRPr lang="en-US" altLang="ko-KR"/>
              </a:p>
            </p:txBody>
          </p:sp>
        </p:grpSp>
      </p:grpSp>
      <p:sp>
        <p:nvSpPr>
          <p:cNvPr id="2" name=""/>
          <p:cNvSpPr>
            <a:spLocks noGrp="1"/>
          </p:cNvSpPr>
          <p:nvPr>
            <p:ph type="title" idx="0"/>
          </p:nvPr>
        </p:nvSpPr>
        <p:spPr>
          <a:xfrm>
            <a:off x="2542695" y="1121212"/>
            <a:ext cx="7837714" cy="1143000"/>
          </a:xfrm>
        </p:spPr>
        <p:txBody>
          <a:bodyPr/>
          <a:lstStyle>
            <a:lvl1pPr algn="l">
              <a:defRPr sz="400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18" name=""/>
          <p:cNvSpPr>
            <a:spLocks noGrp="1"/>
          </p:cNvSpPr>
          <p:nvPr>
            <p:ph type="body" sz="quarter" idx="14"/>
          </p:nvPr>
        </p:nvSpPr>
        <p:spPr>
          <a:xfrm>
            <a:off x="2542710" y="2286007"/>
            <a:ext cx="7839569" cy="3429009"/>
          </a:xfr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r>
              <a:rPr lang="ko-KR" altLang="en-US"/>
              <a:t>첫째 목차</a:t>
            </a:r>
            <a:endParaRPr lang="ko-KR" altLang="en-US"/>
          </a:p>
          <a:p>
            <a:pPr lvl="0">
              <a:defRPr lang="ko-KR" altLang="en-US"/>
            </a:pPr>
            <a:r>
              <a:rPr lang="ko-KR" altLang="en-US"/>
              <a:t>둘째 목차</a:t>
            </a:r>
            <a:endParaRPr lang="ko-KR" altLang="en-US"/>
          </a:p>
          <a:p>
            <a:pPr lvl="0">
              <a:defRPr lang="ko-KR" altLang="en-US"/>
            </a:pPr>
            <a:r>
              <a:rPr lang="ko-KR" altLang="en-US"/>
              <a:t>셋째 목차</a:t>
            </a:r>
            <a:endParaRPr lang="ko-KR" altLang="en-US"/>
          </a:p>
          <a:p>
            <a:pPr lvl="0">
              <a:defRPr lang="ko-KR" altLang="en-US"/>
            </a:pPr>
            <a:r>
              <a:rPr lang="ko-KR" altLang="en-US"/>
              <a:t>넷째 목차</a:t>
            </a:r>
            <a:endParaRPr lang="ko-KR" altLang="en-US"/>
          </a:p>
          <a:p>
            <a:pPr lvl="0">
              <a:defRPr lang="ko-KR" altLang="en-US"/>
            </a:pPr>
            <a:r>
              <a:rPr lang="ko-KR" altLang="en-US"/>
              <a:t>다섯째 목차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ko-KR" altLang="en-US"/>
            </a:pPr>
            <a:fld id="{5FDD8E82-9EDF-4A21-8052-950E349A4E6B}" type="datetime1">
              <a:rPr lang="ko-KR" altLang="en-US"/>
              <a:pPr>
                <a:defRPr lang="ko-KR" altLang="en-US"/>
              </a:pPr>
              <a:t>2015-07-13</a:t>
            </a:fld>
            <a:endParaRPr lang="en-US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ko-KR" altLang="en-US"/>
            </a:pPr>
            <a:fld id="{DF28FB93-0A08-4E7D-8E63-9EFA29F1E093}" type="slidenum">
              <a:rPr lang="en-US" altLang="en-US"/>
              <a:pPr>
                <a:defRPr lang="ko-KR" altLang="en-US"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6858537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1" matchingName="세로 제목 및 본문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"/>
          <p:cNvGrpSpPr/>
          <p:nvPr/>
        </p:nvGrpSpPr>
        <p:grpSpPr>
          <a:xfrm rot="10800000" flipH="1">
            <a:off x="10430936" y="4214817"/>
            <a:ext cx="1780898" cy="2672210"/>
            <a:chOff x="7830097" y="-3175"/>
            <a:chExt cx="1335674" cy="3646465"/>
          </a:xfrm>
        </p:grpSpPr>
        <p:sp>
          <p:nvSpPr>
            <p:cNvPr id="8" name=""/>
            <p:cNvSpPr/>
            <p:nvPr/>
          </p:nvSpPr>
          <p:spPr>
            <a:xfrm>
              <a:off x="7858910" y="-3175"/>
              <a:ext cx="1290865" cy="2960833"/>
            </a:xfrm>
            <a:custGeom>
              <a:avLst/>
              <a:gdLst>
                <a:gd name="connsiteX0" fmla="*/ 2623457 w 2623457"/>
                <a:gd name="connsiteY0" fmla="*/ 6063342 h 6063342"/>
                <a:gd name="connsiteX1" fmla="*/ 0 w 2623457"/>
                <a:gd name="connsiteY1" fmla="*/ 0 h 6063342"/>
                <a:gd name="connsiteX2" fmla="*/ 174172 w 2623457"/>
                <a:gd name="connsiteY2" fmla="*/ 0 h 6063342"/>
                <a:gd name="connsiteX3" fmla="*/ 1556657 w 2623457"/>
                <a:gd name="connsiteY3" fmla="*/ 1545771 h 6063342"/>
                <a:gd name="connsiteX4" fmla="*/ 2623457 w 2623457"/>
                <a:gd name="connsiteY4" fmla="*/ 6063342 h 6063342"/>
                <a:gd name="connsiteX0" fmla="*/ 2623457 w 2623457"/>
                <a:gd name="connsiteY0" fmla="*/ 6063342 h 6063342"/>
                <a:gd name="connsiteX1" fmla="*/ 0 w 2623457"/>
                <a:gd name="connsiteY1" fmla="*/ 0 h 6063342"/>
                <a:gd name="connsiteX2" fmla="*/ 174172 w 2623457"/>
                <a:gd name="connsiteY2" fmla="*/ 0 h 6063342"/>
                <a:gd name="connsiteX3" fmla="*/ 1556657 w 2623457"/>
                <a:gd name="connsiteY3" fmla="*/ 1545771 h 6063342"/>
                <a:gd name="connsiteX4" fmla="*/ 2623457 w 2623457"/>
                <a:gd name="connsiteY4" fmla="*/ 6063342 h 6063342"/>
                <a:gd name="connsiteX0" fmla="*/ 2623457 w 2623457"/>
                <a:gd name="connsiteY0" fmla="*/ 6063342 h 6063342"/>
                <a:gd name="connsiteX1" fmla="*/ 0 w 2623457"/>
                <a:gd name="connsiteY1" fmla="*/ 0 h 6063342"/>
                <a:gd name="connsiteX2" fmla="*/ 3062 w 2623457"/>
                <a:gd name="connsiteY2" fmla="*/ 0 h 6063342"/>
                <a:gd name="connsiteX3" fmla="*/ 174172 w 2623457"/>
                <a:gd name="connsiteY3" fmla="*/ 0 h 6063342"/>
                <a:gd name="connsiteX4" fmla="*/ 1556657 w 2623457"/>
                <a:gd name="connsiteY4" fmla="*/ 1545771 h 6063342"/>
                <a:gd name="connsiteX5" fmla="*/ 2623457 w 2623457"/>
                <a:gd name="connsiteY5" fmla="*/ 6063342 h 6063342"/>
                <a:gd name="connsiteX0" fmla="*/ 2623457 w 2623457"/>
                <a:gd name="connsiteY0" fmla="*/ 6063342 h 6063342"/>
                <a:gd name="connsiteX1" fmla="*/ 0 w 2623457"/>
                <a:gd name="connsiteY1" fmla="*/ 0 h 6063342"/>
                <a:gd name="connsiteX2" fmla="*/ 174172 w 2623457"/>
                <a:gd name="connsiteY2" fmla="*/ 0 h 6063342"/>
                <a:gd name="connsiteX3" fmla="*/ 1556657 w 2623457"/>
                <a:gd name="connsiteY3" fmla="*/ 1545771 h 6063342"/>
                <a:gd name="connsiteX4" fmla="*/ 2623457 w 2623457"/>
                <a:gd name="connsiteY4" fmla="*/ 6063342 h 6063342"/>
                <a:gd name="connsiteX0" fmla="*/ 2623457 w 2623457"/>
                <a:gd name="connsiteY0" fmla="*/ 6063342 h 6063342"/>
                <a:gd name="connsiteX1" fmla="*/ 0 w 2623457"/>
                <a:gd name="connsiteY1" fmla="*/ 0 h 6063342"/>
                <a:gd name="connsiteX2" fmla="*/ 174172 w 2623457"/>
                <a:gd name="connsiteY2" fmla="*/ 0 h 6063342"/>
                <a:gd name="connsiteX3" fmla="*/ 1556657 w 2623457"/>
                <a:gd name="connsiteY3" fmla="*/ 1545771 h 6063342"/>
                <a:gd name="connsiteX4" fmla="*/ 2623457 w 2623457"/>
                <a:gd name="connsiteY4" fmla="*/ 6063342 h 6063342"/>
                <a:gd name="connsiteX0" fmla="*/ 2623457 w 2623457"/>
                <a:gd name="connsiteY0" fmla="*/ 6063342 h 6063342"/>
                <a:gd name="connsiteX1" fmla="*/ 0 w 2623457"/>
                <a:gd name="connsiteY1" fmla="*/ 0 h 6063342"/>
                <a:gd name="connsiteX2" fmla="*/ 174172 w 2623457"/>
                <a:gd name="connsiteY2" fmla="*/ 0 h 6063342"/>
                <a:gd name="connsiteX3" fmla="*/ 1556657 w 2623457"/>
                <a:gd name="connsiteY3" fmla="*/ 1545771 h 6063342"/>
                <a:gd name="connsiteX4" fmla="*/ 2623457 w 2623457"/>
                <a:gd name="connsiteY4" fmla="*/ 6063342 h 6063342"/>
                <a:gd name="connsiteX0" fmla="*/ 2623457 w 2623457"/>
                <a:gd name="connsiteY0" fmla="*/ 6076108 h 6076108"/>
                <a:gd name="connsiteX1" fmla="*/ 0 w 2623457"/>
                <a:gd name="connsiteY1" fmla="*/ 12766 h 6076108"/>
                <a:gd name="connsiteX2" fmla="*/ 183682 w 2623457"/>
                <a:gd name="connsiteY2" fmla="*/ 0 h 6076108"/>
                <a:gd name="connsiteX3" fmla="*/ 1556657 w 2623457"/>
                <a:gd name="connsiteY3" fmla="*/ 1558537 h 6076108"/>
                <a:gd name="connsiteX4" fmla="*/ 2623457 w 2623457"/>
                <a:gd name="connsiteY4" fmla="*/ 6076108 h 6076108"/>
                <a:gd name="connsiteX0" fmla="*/ 2623457 w 2623457"/>
                <a:gd name="connsiteY0" fmla="*/ 6085682 h 6085682"/>
                <a:gd name="connsiteX1" fmla="*/ 0 w 2623457"/>
                <a:gd name="connsiteY1" fmla="*/ 22340 h 6085682"/>
                <a:gd name="connsiteX2" fmla="*/ 667 w 2623457"/>
                <a:gd name="connsiteY2" fmla="*/ 0 h 6085682"/>
                <a:gd name="connsiteX3" fmla="*/ 183682 w 2623457"/>
                <a:gd name="connsiteY3" fmla="*/ 9574 h 6085682"/>
                <a:gd name="connsiteX4" fmla="*/ 1556657 w 2623457"/>
                <a:gd name="connsiteY4" fmla="*/ 1568111 h 6085682"/>
                <a:gd name="connsiteX5" fmla="*/ 2623457 w 2623457"/>
                <a:gd name="connsiteY5" fmla="*/ 6085682 h 6085682"/>
                <a:gd name="connsiteX0" fmla="*/ 3030086 w 3030086"/>
                <a:gd name="connsiteY0" fmla="*/ 7076027 h 7076027"/>
                <a:gd name="connsiteX1" fmla="*/ 406629 w 3030086"/>
                <a:gd name="connsiteY1" fmla="*/ 1012685 h 7076027"/>
                <a:gd name="connsiteX2" fmla="*/ 590311 w 3030086"/>
                <a:gd name="connsiteY2" fmla="*/ 999919 h 7076027"/>
                <a:gd name="connsiteX3" fmla="*/ 1963286 w 3030086"/>
                <a:gd name="connsiteY3" fmla="*/ 2558456 h 7076027"/>
                <a:gd name="connsiteX4" fmla="*/ 3030086 w 3030086"/>
                <a:gd name="connsiteY4" fmla="*/ 7076027 h 7076027"/>
                <a:gd name="connsiteX0" fmla="*/ 2623457 w 2623457"/>
                <a:gd name="connsiteY0" fmla="*/ 6076108 h 6076108"/>
                <a:gd name="connsiteX1" fmla="*/ 0 w 2623457"/>
                <a:gd name="connsiteY1" fmla="*/ 12766 h 6076108"/>
                <a:gd name="connsiteX2" fmla="*/ 183682 w 2623457"/>
                <a:gd name="connsiteY2" fmla="*/ 0 h 6076108"/>
                <a:gd name="connsiteX3" fmla="*/ 1556657 w 2623457"/>
                <a:gd name="connsiteY3" fmla="*/ 1558537 h 6076108"/>
                <a:gd name="connsiteX4" fmla="*/ 2623457 w 2623457"/>
                <a:gd name="connsiteY4" fmla="*/ 6076108 h 6076108"/>
                <a:gd name="connsiteX0" fmla="*/ 2623457 w 2623457"/>
                <a:gd name="connsiteY0" fmla="*/ 6076108 h 6076108"/>
                <a:gd name="connsiteX1" fmla="*/ 0 w 2623457"/>
                <a:gd name="connsiteY1" fmla="*/ 12766 h 6076108"/>
                <a:gd name="connsiteX2" fmla="*/ 183682 w 2623457"/>
                <a:gd name="connsiteY2" fmla="*/ 0 h 6076108"/>
                <a:gd name="connsiteX3" fmla="*/ 1556657 w 2623457"/>
                <a:gd name="connsiteY3" fmla="*/ 1558537 h 6076108"/>
                <a:gd name="connsiteX4" fmla="*/ 2623457 w 2623457"/>
                <a:gd name="connsiteY4" fmla="*/ 6076108 h 6076108"/>
                <a:gd name="connsiteX0" fmla="*/ 2630614 w 2630614"/>
                <a:gd name="connsiteY0" fmla="*/ 6076108 h 6076108"/>
                <a:gd name="connsiteX1" fmla="*/ 0 w 2630614"/>
                <a:gd name="connsiteY1" fmla="*/ 5585 h 6076108"/>
                <a:gd name="connsiteX2" fmla="*/ 190839 w 2630614"/>
                <a:gd name="connsiteY2" fmla="*/ 0 h 6076108"/>
                <a:gd name="connsiteX3" fmla="*/ 1563814 w 2630614"/>
                <a:gd name="connsiteY3" fmla="*/ 1558537 h 6076108"/>
                <a:gd name="connsiteX4" fmla="*/ 2630614 w 2630614"/>
                <a:gd name="connsiteY4" fmla="*/ 6076108 h 6076108"/>
                <a:gd name="connsiteX0" fmla="*/ 2635390 w 2635390"/>
                <a:gd name="connsiteY0" fmla="*/ 6076108 h 6076108"/>
                <a:gd name="connsiteX1" fmla="*/ 0 w 2635390"/>
                <a:gd name="connsiteY1" fmla="*/ 797 h 6076108"/>
                <a:gd name="connsiteX2" fmla="*/ 195615 w 2635390"/>
                <a:gd name="connsiteY2" fmla="*/ 0 h 6076108"/>
                <a:gd name="connsiteX3" fmla="*/ 1568590 w 2635390"/>
                <a:gd name="connsiteY3" fmla="*/ 1558537 h 6076108"/>
                <a:gd name="connsiteX4" fmla="*/ 2635390 w 2635390"/>
                <a:gd name="connsiteY4" fmla="*/ 6076108 h 6076108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5390" h="6076108">
                  <a:moveTo>
                    <a:pt x="2635390" y="6076108"/>
                  </a:moveTo>
                  <a:lnTo>
                    <a:pt x="0" y="797"/>
                  </a:lnTo>
                  <a:lnTo>
                    <a:pt x="195615" y="0"/>
                  </a:lnTo>
                  <a:lnTo>
                    <a:pt x="1568590" y="1558537"/>
                  </a:lnTo>
                  <a:lnTo>
                    <a:pt x="2635390" y="6076108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9" name=""/>
            <p:cNvSpPr/>
            <p:nvPr/>
          </p:nvSpPr>
          <p:spPr>
            <a:xfrm>
              <a:off x="8617016" y="737400"/>
              <a:ext cx="543423" cy="2244786"/>
            </a:xfrm>
            <a:custGeom>
              <a:avLst/>
              <a:gdLst>
                <a:gd name="connsiteX0" fmla="*/ 0 w 1088572"/>
                <a:gd name="connsiteY0" fmla="*/ 0 h 4582886"/>
                <a:gd name="connsiteX1" fmla="*/ 1088572 w 1088572"/>
                <a:gd name="connsiteY1" fmla="*/ 1186543 h 4582886"/>
                <a:gd name="connsiteX2" fmla="*/ 1088572 w 1088572"/>
                <a:gd name="connsiteY2" fmla="*/ 4582886 h 4582886"/>
                <a:gd name="connsiteX3" fmla="*/ 0 w 1088572"/>
                <a:gd name="connsiteY3" fmla="*/ 0 h 4582886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8572" h="4582886">
                  <a:moveTo>
                    <a:pt x="0" y="0"/>
                  </a:moveTo>
                  <a:lnTo>
                    <a:pt x="1088572" y="1186543"/>
                  </a:lnTo>
                  <a:lnTo>
                    <a:pt x="1088572" y="4582886"/>
                  </a:lnTo>
                  <a:lnTo>
                    <a:pt x="0" y="0"/>
                  </a:lnTo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10" name=""/>
            <p:cNvSpPr/>
            <p:nvPr/>
          </p:nvSpPr>
          <p:spPr>
            <a:xfrm>
              <a:off x="7956911" y="-1619"/>
              <a:ext cx="671047" cy="757711"/>
            </a:xfrm>
            <a:custGeom>
              <a:avLst/>
              <a:gdLst>
                <a:gd name="connsiteX0" fmla="*/ 1371600 w 1371600"/>
                <a:gd name="connsiteY0" fmla="*/ 1491343 h 1491343"/>
                <a:gd name="connsiteX1" fmla="*/ 1023257 w 1371600"/>
                <a:gd name="connsiteY1" fmla="*/ 0 h 1491343"/>
                <a:gd name="connsiteX2" fmla="*/ 0 w 1371600"/>
                <a:gd name="connsiteY2" fmla="*/ 0 h 1491343"/>
                <a:gd name="connsiteX3" fmla="*/ 1371600 w 1371600"/>
                <a:gd name="connsiteY3" fmla="*/ 1491343 h 1491343"/>
                <a:gd name="connsiteX0" fmla="*/ 1371600 w 1371600"/>
                <a:gd name="connsiteY0" fmla="*/ 1491343 h 1491343"/>
                <a:gd name="connsiteX1" fmla="*/ 1023257 w 1371600"/>
                <a:gd name="connsiteY1" fmla="*/ 0 h 1491343"/>
                <a:gd name="connsiteX2" fmla="*/ 0 w 1371600"/>
                <a:gd name="connsiteY2" fmla="*/ 0 h 1491343"/>
                <a:gd name="connsiteX3" fmla="*/ 1371600 w 1371600"/>
                <a:gd name="connsiteY3" fmla="*/ 1491343 h 1491343"/>
                <a:gd name="connsiteX0" fmla="*/ 1369988 w 1369988"/>
                <a:gd name="connsiteY0" fmla="*/ 1546919 h 1546919"/>
                <a:gd name="connsiteX1" fmla="*/ 1023257 w 1369988"/>
                <a:gd name="connsiteY1" fmla="*/ 0 h 1546919"/>
                <a:gd name="connsiteX2" fmla="*/ 0 w 1369988"/>
                <a:gd name="connsiteY2" fmla="*/ 0 h 1546919"/>
                <a:gd name="connsiteX3" fmla="*/ 1369988 w 1369988"/>
                <a:gd name="connsiteY3" fmla="*/ 1546919 h 1546919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988" h="1546919">
                  <a:moveTo>
                    <a:pt x="1369988" y="1546919"/>
                  </a:moveTo>
                  <a:lnTo>
                    <a:pt x="1023257" y="0"/>
                  </a:lnTo>
                  <a:lnTo>
                    <a:pt x="0" y="0"/>
                  </a:lnTo>
                  <a:lnTo>
                    <a:pt x="1369988" y="1546919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11" name=""/>
            <p:cNvSpPr/>
            <p:nvPr/>
          </p:nvSpPr>
          <p:spPr>
            <a:xfrm>
              <a:off x="8455711" y="-1619"/>
              <a:ext cx="710060" cy="1329898"/>
            </a:xfrm>
            <a:custGeom>
              <a:avLst/>
              <a:gdLst>
                <a:gd name="connsiteX0" fmla="*/ 0 w 1436914"/>
                <a:gd name="connsiteY0" fmla="*/ 0 h 2721429"/>
                <a:gd name="connsiteX1" fmla="*/ 326572 w 1436914"/>
                <a:gd name="connsiteY1" fmla="*/ 1534886 h 2721429"/>
                <a:gd name="connsiteX2" fmla="*/ 1436914 w 1436914"/>
                <a:gd name="connsiteY2" fmla="*/ 2721429 h 2721429"/>
                <a:gd name="connsiteX3" fmla="*/ 1415143 w 1436914"/>
                <a:gd name="connsiteY3" fmla="*/ 10886 h 2721429"/>
                <a:gd name="connsiteX4" fmla="*/ 0 w 1436914"/>
                <a:gd name="connsiteY4" fmla="*/ 0 h 2721429"/>
                <a:gd name="connsiteX0" fmla="*/ 0 w 1436914"/>
                <a:gd name="connsiteY0" fmla="*/ 0 h 2721429"/>
                <a:gd name="connsiteX1" fmla="*/ 326572 w 1436914"/>
                <a:gd name="connsiteY1" fmla="*/ 1534886 h 2721429"/>
                <a:gd name="connsiteX2" fmla="*/ 1436914 w 1436914"/>
                <a:gd name="connsiteY2" fmla="*/ 2721429 h 2721429"/>
                <a:gd name="connsiteX3" fmla="*/ 1415143 w 1436914"/>
                <a:gd name="connsiteY3" fmla="*/ 10886 h 2721429"/>
                <a:gd name="connsiteX4" fmla="*/ 1408793 w 1436914"/>
                <a:gd name="connsiteY4" fmla="*/ 6350 h 2721429"/>
                <a:gd name="connsiteX5" fmla="*/ 0 w 1436914"/>
                <a:gd name="connsiteY5" fmla="*/ 0 h 2721429"/>
                <a:gd name="connsiteX0" fmla="*/ 0 w 1436914"/>
                <a:gd name="connsiteY0" fmla="*/ 0 h 2721429"/>
                <a:gd name="connsiteX1" fmla="*/ 326572 w 1436914"/>
                <a:gd name="connsiteY1" fmla="*/ 1534886 h 2721429"/>
                <a:gd name="connsiteX2" fmla="*/ 1436914 w 1436914"/>
                <a:gd name="connsiteY2" fmla="*/ 2721429 h 2721429"/>
                <a:gd name="connsiteX3" fmla="*/ 1415143 w 1436914"/>
                <a:gd name="connsiteY3" fmla="*/ 10886 h 2721429"/>
                <a:gd name="connsiteX4" fmla="*/ 1408793 w 1436914"/>
                <a:gd name="connsiteY4" fmla="*/ 6350 h 2721429"/>
                <a:gd name="connsiteX5" fmla="*/ 0 w 1436914"/>
                <a:gd name="connsiteY5" fmla="*/ 0 h 2721429"/>
                <a:gd name="connsiteX0" fmla="*/ 0 w 1436914"/>
                <a:gd name="connsiteY0" fmla="*/ 0 h 2721429"/>
                <a:gd name="connsiteX1" fmla="*/ 326572 w 1436914"/>
                <a:gd name="connsiteY1" fmla="*/ 1534886 h 2721429"/>
                <a:gd name="connsiteX2" fmla="*/ 1436914 w 1436914"/>
                <a:gd name="connsiteY2" fmla="*/ 2721429 h 2721429"/>
                <a:gd name="connsiteX3" fmla="*/ 1415143 w 1436914"/>
                <a:gd name="connsiteY3" fmla="*/ 10886 h 2721429"/>
                <a:gd name="connsiteX4" fmla="*/ 1408793 w 1436914"/>
                <a:gd name="connsiteY4" fmla="*/ 6350 h 2721429"/>
                <a:gd name="connsiteX5" fmla="*/ 0 w 1436914"/>
                <a:gd name="connsiteY5" fmla="*/ 0 h 2721429"/>
                <a:gd name="connsiteX0" fmla="*/ 0 w 1436914"/>
                <a:gd name="connsiteY0" fmla="*/ 0 h 2721429"/>
                <a:gd name="connsiteX1" fmla="*/ 326572 w 1436914"/>
                <a:gd name="connsiteY1" fmla="*/ 1534886 h 2721429"/>
                <a:gd name="connsiteX2" fmla="*/ 1436914 w 1436914"/>
                <a:gd name="connsiteY2" fmla="*/ 2721429 h 2721429"/>
                <a:gd name="connsiteX3" fmla="*/ 1415143 w 1436914"/>
                <a:gd name="connsiteY3" fmla="*/ 10886 h 2721429"/>
                <a:gd name="connsiteX4" fmla="*/ 1408793 w 1436914"/>
                <a:gd name="connsiteY4" fmla="*/ 6350 h 2721429"/>
                <a:gd name="connsiteX5" fmla="*/ 0 w 1436914"/>
                <a:gd name="connsiteY5" fmla="*/ 0 h 2721429"/>
                <a:gd name="connsiteX0" fmla="*/ 0 w 1449636"/>
                <a:gd name="connsiteY0" fmla="*/ 0 h 2715079"/>
                <a:gd name="connsiteX1" fmla="*/ 339294 w 1449636"/>
                <a:gd name="connsiteY1" fmla="*/ 1528536 h 2715079"/>
                <a:gd name="connsiteX2" fmla="*/ 1449636 w 1449636"/>
                <a:gd name="connsiteY2" fmla="*/ 2715079 h 2715079"/>
                <a:gd name="connsiteX3" fmla="*/ 1427865 w 1449636"/>
                <a:gd name="connsiteY3" fmla="*/ 4536 h 2715079"/>
                <a:gd name="connsiteX4" fmla="*/ 1421515 w 1449636"/>
                <a:gd name="connsiteY4" fmla="*/ 0 h 2715079"/>
                <a:gd name="connsiteX5" fmla="*/ 0 w 1449636"/>
                <a:gd name="connsiteY5" fmla="*/ 0 h 2715079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49636" h="2715079">
                  <a:moveTo>
                    <a:pt x="0" y="0"/>
                  </a:moveTo>
                  <a:lnTo>
                    <a:pt x="339294" y="1528536"/>
                  </a:lnTo>
                  <a:lnTo>
                    <a:pt x="1449636" y="2715079"/>
                  </a:lnTo>
                  <a:lnTo>
                    <a:pt x="1427865" y="4536"/>
                  </a:lnTo>
                  <a:lnTo>
                    <a:pt x="1421515" y="0"/>
                  </a:lnTo>
                  <a:lnTo>
                    <a:pt x="0" y="0"/>
                  </a:lnTo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12" name=""/>
            <p:cNvSpPr/>
            <p:nvPr/>
          </p:nvSpPr>
          <p:spPr>
            <a:xfrm>
              <a:off x="7830097" y="-1619"/>
              <a:ext cx="1325010" cy="3644909"/>
            </a:xfrm>
            <a:custGeom>
              <a:avLst/>
              <a:gdLst>
                <a:gd name="connsiteX0" fmla="*/ 2705100 w 2705100"/>
                <a:gd name="connsiteY0" fmla="*/ 6086475 h 6867525"/>
                <a:gd name="connsiteX1" fmla="*/ 57150 w 2705100"/>
                <a:gd name="connsiteY1" fmla="*/ 0 h 6867525"/>
                <a:gd name="connsiteX2" fmla="*/ 0 w 2705100"/>
                <a:gd name="connsiteY2" fmla="*/ 9525 h 6867525"/>
                <a:gd name="connsiteX3" fmla="*/ 2295525 w 2705100"/>
                <a:gd name="connsiteY3" fmla="*/ 6858000 h 6867525"/>
                <a:gd name="connsiteX4" fmla="*/ 2695575 w 2705100"/>
                <a:gd name="connsiteY4" fmla="*/ 6867525 h 6867525"/>
                <a:gd name="connsiteX5" fmla="*/ 2705100 w 2705100"/>
                <a:gd name="connsiteY5" fmla="*/ 6086475 h 6867525"/>
                <a:gd name="connsiteX0" fmla="*/ 2705100 w 2705100"/>
                <a:gd name="connsiteY0" fmla="*/ 6086475 h 6867525"/>
                <a:gd name="connsiteX1" fmla="*/ 57150 w 2705100"/>
                <a:gd name="connsiteY1" fmla="*/ 0 h 6867525"/>
                <a:gd name="connsiteX2" fmla="*/ 0 w 2705100"/>
                <a:gd name="connsiteY2" fmla="*/ 9525 h 6867525"/>
                <a:gd name="connsiteX3" fmla="*/ 2295525 w 2705100"/>
                <a:gd name="connsiteY3" fmla="*/ 6858000 h 6867525"/>
                <a:gd name="connsiteX4" fmla="*/ 2695575 w 2705100"/>
                <a:gd name="connsiteY4" fmla="*/ 6867525 h 6867525"/>
                <a:gd name="connsiteX5" fmla="*/ 2705100 w 2705100"/>
                <a:gd name="connsiteY5" fmla="*/ 6086475 h 6867525"/>
                <a:gd name="connsiteX0" fmla="*/ 2705100 w 2705100"/>
                <a:gd name="connsiteY0" fmla="*/ 6086475 h 6867525"/>
                <a:gd name="connsiteX1" fmla="*/ 57150 w 2705100"/>
                <a:gd name="connsiteY1" fmla="*/ 0 h 6867525"/>
                <a:gd name="connsiteX2" fmla="*/ 49993 w 2705100"/>
                <a:gd name="connsiteY2" fmla="*/ 9525 h 6867525"/>
                <a:gd name="connsiteX3" fmla="*/ 0 w 2705100"/>
                <a:gd name="connsiteY3" fmla="*/ 9525 h 6867525"/>
                <a:gd name="connsiteX4" fmla="*/ 2295525 w 2705100"/>
                <a:gd name="connsiteY4" fmla="*/ 6858000 h 6867525"/>
                <a:gd name="connsiteX5" fmla="*/ 2695575 w 2705100"/>
                <a:gd name="connsiteY5" fmla="*/ 6867525 h 6867525"/>
                <a:gd name="connsiteX6" fmla="*/ 2705100 w 2705100"/>
                <a:gd name="connsiteY6" fmla="*/ 6086475 h 6867525"/>
                <a:gd name="connsiteX0" fmla="*/ 2705100 w 2705100"/>
                <a:gd name="connsiteY0" fmla="*/ 6086475 h 6867525"/>
                <a:gd name="connsiteX1" fmla="*/ 57150 w 2705100"/>
                <a:gd name="connsiteY1" fmla="*/ 0 h 6867525"/>
                <a:gd name="connsiteX2" fmla="*/ 0 w 2705100"/>
                <a:gd name="connsiteY2" fmla="*/ 9525 h 6867525"/>
                <a:gd name="connsiteX3" fmla="*/ 2295525 w 2705100"/>
                <a:gd name="connsiteY3" fmla="*/ 6858000 h 6867525"/>
                <a:gd name="connsiteX4" fmla="*/ 2695575 w 2705100"/>
                <a:gd name="connsiteY4" fmla="*/ 6867525 h 6867525"/>
                <a:gd name="connsiteX5" fmla="*/ 2705100 w 2705100"/>
                <a:gd name="connsiteY5" fmla="*/ 6086475 h 6867525"/>
                <a:gd name="connsiteX0" fmla="*/ 2705100 w 2705100"/>
                <a:gd name="connsiteY0" fmla="*/ 6086475 h 6867525"/>
                <a:gd name="connsiteX1" fmla="*/ 57150 w 2705100"/>
                <a:gd name="connsiteY1" fmla="*/ 0 h 6867525"/>
                <a:gd name="connsiteX2" fmla="*/ 0 w 2705100"/>
                <a:gd name="connsiteY2" fmla="*/ 9525 h 6867525"/>
                <a:gd name="connsiteX3" fmla="*/ 2295525 w 2705100"/>
                <a:gd name="connsiteY3" fmla="*/ 6858000 h 6867525"/>
                <a:gd name="connsiteX4" fmla="*/ 2695575 w 2705100"/>
                <a:gd name="connsiteY4" fmla="*/ 6867525 h 6867525"/>
                <a:gd name="connsiteX5" fmla="*/ 2705100 w 2705100"/>
                <a:gd name="connsiteY5" fmla="*/ 6086475 h 6867525"/>
                <a:gd name="connsiteX0" fmla="*/ 2705100 w 2705100"/>
                <a:gd name="connsiteY0" fmla="*/ 6076950 h 6858000"/>
                <a:gd name="connsiteX1" fmla="*/ 64280 w 2705100"/>
                <a:gd name="connsiteY1" fmla="*/ 0 h 6858000"/>
                <a:gd name="connsiteX2" fmla="*/ 0 w 2705100"/>
                <a:gd name="connsiteY2" fmla="*/ 0 h 6858000"/>
                <a:gd name="connsiteX3" fmla="*/ 2295525 w 2705100"/>
                <a:gd name="connsiteY3" fmla="*/ 6848475 h 6858000"/>
                <a:gd name="connsiteX4" fmla="*/ 2695575 w 2705100"/>
                <a:gd name="connsiteY4" fmla="*/ 6858000 h 6858000"/>
                <a:gd name="connsiteX5" fmla="*/ 2705100 w 2705100"/>
                <a:gd name="connsiteY5" fmla="*/ 6076950 h 6858000"/>
                <a:gd name="connsiteX0" fmla="*/ 2705100 w 2705100"/>
                <a:gd name="connsiteY0" fmla="*/ 6076950 h 6858000"/>
                <a:gd name="connsiteX1" fmla="*/ 64280 w 2705100"/>
                <a:gd name="connsiteY1" fmla="*/ 0 h 6858000"/>
                <a:gd name="connsiteX2" fmla="*/ 0 w 2705100"/>
                <a:gd name="connsiteY2" fmla="*/ 0 h 6858000"/>
                <a:gd name="connsiteX3" fmla="*/ 2695575 w 2705100"/>
                <a:gd name="connsiteY3" fmla="*/ 6858000 h 6858000"/>
                <a:gd name="connsiteX4" fmla="*/ 2705100 w 2705100"/>
                <a:gd name="connsiteY4" fmla="*/ 6076950 h 6858000"/>
                <a:gd name="connsiteX0" fmla="*/ 2705100 w 2705100"/>
                <a:gd name="connsiteY0" fmla="*/ 6076950 h 7441333"/>
                <a:gd name="connsiteX1" fmla="*/ 64280 w 2705100"/>
                <a:gd name="connsiteY1" fmla="*/ 0 h 7441333"/>
                <a:gd name="connsiteX2" fmla="*/ 0 w 2705100"/>
                <a:gd name="connsiteY2" fmla="*/ 0 h 7441333"/>
                <a:gd name="connsiteX3" fmla="*/ 2695576 w 2705100"/>
                <a:gd name="connsiteY3" fmla="*/ 7441333 h 7441333"/>
                <a:gd name="connsiteX4" fmla="*/ 2705100 w 2705100"/>
                <a:gd name="connsiteY4" fmla="*/ 6076950 h 7441333"/>
                <a:gd name="connsiteX0" fmla="*/ 2705100 w 2705100"/>
                <a:gd name="connsiteY0" fmla="*/ 6076950 h 7441333"/>
                <a:gd name="connsiteX1" fmla="*/ 64280 w 2705100"/>
                <a:gd name="connsiteY1" fmla="*/ 0 h 7441333"/>
                <a:gd name="connsiteX2" fmla="*/ 0 w 2705100"/>
                <a:gd name="connsiteY2" fmla="*/ 0 h 7441333"/>
                <a:gd name="connsiteX3" fmla="*/ 2695576 w 2705100"/>
                <a:gd name="connsiteY3" fmla="*/ 7441333 h 7441333"/>
                <a:gd name="connsiteX4" fmla="*/ 2705100 w 2705100"/>
                <a:gd name="connsiteY4" fmla="*/ 6076950 h 7441333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05100" h="7441333">
                  <a:moveTo>
                    <a:pt x="2705100" y="6076950"/>
                  </a:moveTo>
                  <a:lnTo>
                    <a:pt x="64280" y="0"/>
                  </a:lnTo>
                  <a:lnTo>
                    <a:pt x="0" y="0"/>
                  </a:lnTo>
                  <a:lnTo>
                    <a:pt x="2695576" y="7441333"/>
                  </a:lnTo>
                  <a:cubicBezTo>
                    <a:pt x="2698751" y="6986539"/>
                    <a:pt x="2701925" y="6531744"/>
                    <a:pt x="2705100" y="6076950"/>
                  </a:cubicBezTo>
                </a:path>
              </a:pathLst>
            </a:custGeom>
            <a:solidFill>
              <a:schemeClr val="accent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endParaRPr lang="en-US" altLang="ko-KR"/>
            </a:p>
          </p:txBody>
        </p:sp>
      </p:grpSp>
      <p:sp>
        <p:nvSpPr>
          <p:cNvPr id="2" name=""/>
          <p:cNvSpPr>
            <a:spLocks noGrp="1"/>
          </p:cNvSpPr>
          <p:nvPr>
            <p:ph type="title" orient="vert" idx="0"/>
          </p:nvPr>
        </p:nvSpPr>
        <p:spPr>
          <a:xfrm>
            <a:off x="9563098" y="274638"/>
            <a:ext cx="2019299" cy="5851525"/>
          </a:xfrm>
        </p:spPr>
        <p:txBody>
          <a:bodyPr vert="eaVert"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712199" cy="5851525"/>
          </a:xfrm>
        </p:spPr>
        <p:txBody>
          <a:bodyPr vert="eaVert"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ko-KR" altLang="en-US"/>
            </a:pPr>
            <a:fld id="{16753771-9475-4309-9B2C-4F43EB0294C6}" type="datetime1">
              <a:rPr lang="ko-KR" altLang="en-US"/>
              <a:pPr>
                <a:defRPr lang="ko-KR" altLang="en-US"/>
              </a:pPr>
              <a:t>2015-07-13</a:t>
            </a:fld>
            <a:endParaRPr lang="en-US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ko-KR" altLang="en-US"/>
            </a:pPr>
            <a:fld id="{DF28FB93-0A08-4E7D-8E63-9EFA29F1E093}" type="slidenum">
              <a:rPr lang="en-US" altLang="en-US"/>
              <a:pPr>
                <a:defRPr lang="ko-KR" altLang="en-US"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0467389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"/>
          <p:cNvSpPr/>
          <p:nvPr/>
        </p:nvSpPr>
        <p:spPr>
          <a:xfrm>
            <a:off x="1732842" y="3147876"/>
            <a:ext cx="6308395" cy="3037101"/>
          </a:xfrm>
          <a:custGeom>
            <a:avLst/>
            <a:gdLst>
              <a:gd name="connsiteX0" fmla="*/ 0 w 4175"/>
              <a:gd name="connsiteY0" fmla="*/ 0 h 2538"/>
              <a:gd name="connsiteX1" fmla="*/ 12 w 4175"/>
              <a:gd name="connsiteY1" fmla="*/ 44 h 2538"/>
              <a:gd name="connsiteX2" fmla="*/ 685 w 4175"/>
              <a:gd name="connsiteY2" fmla="*/ 2538 h 2538"/>
              <a:gd name="connsiteX3" fmla="*/ 4175 w 4175"/>
              <a:gd name="connsiteY3" fmla="*/ 1923 h 2538"/>
              <a:gd name="connsiteX4" fmla="*/ 25 w 4175"/>
              <a:gd name="connsiteY4" fmla="*/ 11 h 2538"/>
              <a:gd name="connsiteX5" fmla="*/ 0 w 4175"/>
              <a:gd name="connsiteY5" fmla="*/ 0 h 2538"/>
              <a:gd name="connsiteX0" fmla="*/ 0 w 4003"/>
              <a:gd name="connsiteY0" fmla="*/ 0 h 2538"/>
              <a:gd name="connsiteX1" fmla="*/ 12 w 4003"/>
              <a:gd name="connsiteY1" fmla="*/ 44 h 2538"/>
              <a:gd name="connsiteX2" fmla="*/ 685 w 4003"/>
              <a:gd name="connsiteY2" fmla="*/ 2538 h 2538"/>
              <a:gd name="connsiteX3" fmla="*/ 4003 w 4003"/>
              <a:gd name="connsiteY3" fmla="*/ 1844 h 2538"/>
              <a:gd name="connsiteX4" fmla="*/ 25 w 4003"/>
              <a:gd name="connsiteY4" fmla="*/ 11 h 2538"/>
              <a:gd name="connsiteX5" fmla="*/ 0 w 4003"/>
              <a:gd name="connsiteY5" fmla="*/ 0 h 2538"/>
              <a:gd name="connsiteX0" fmla="*/ 0 w 4003"/>
              <a:gd name="connsiteY0" fmla="*/ 0 h 2538"/>
              <a:gd name="connsiteX1" fmla="*/ 685 w 4003"/>
              <a:gd name="connsiteY1" fmla="*/ 2538 h 2538"/>
              <a:gd name="connsiteX2" fmla="*/ 4003 w 4003"/>
              <a:gd name="connsiteY2" fmla="*/ 1844 h 2538"/>
              <a:gd name="connsiteX3" fmla="*/ 25 w 4003"/>
              <a:gd name="connsiteY3" fmla="*/ 11 h 2538"/>
              <a:gd name="connsiteX4" fmla="*/ 0 w 4003"/>
              <a:gd name="connsiteY4" fmla="*/ 0 h 2538"/>
              <a:gd name="connsiteX0" fmla="*/ 0 w 4003"/>
              <a:gd name="connsiteY0" fmla="*/ 0 h 2538"/>
              <a:gd name="connsiteX1" fmla="*/ 685 w 4003"/>
              <a:gd name="connsiteY1" fmla="*/ 2538 h 2538"/>
              <a:gd name="connsiteX2" fmla="*/ 4003 w 4003"/>
              <a:gd name="connsiteY2" fmla="*/ 1844 h 2538"/>
              <a:gd name="connsiteX3" fmla="*/ 25 w 4003"/>
              <a:gd name="connsiteY3" fmla="*/ 11 h 2538"/>
              <a:gd name="connsiteX4" fmla="*/ 0 w 4003"/>
              <a:gd name="connsiteY4" fmla="*/ 0 h 2538"/>
              <a:gd name="connsiteX0" fmla="*/ 553 w 4531"/>
              <a:gd name="connsiteY0" fmla="*/ 0 h 2527"/>
              <a:gd name="connsiteX1" fmla="*/ 1213 w 4531"/>
              <a:gd name="connsiteY1" fmla="*/ 2527 h 2527"/>
              <a:gd name="connsiteX2" fmla="*/ 4531 w 4531"/>
              <a:gd name="connsiteY2" fmla="*/ 1833 h 2527"/>
              <a:gd name="connsiteX3" fmla="*/ 553 w 4531"/>
              <a:gd name="connsiteY3" fmla="*/ 0 h 2527"/>
              <a:gd name="connsiteX0" fmla="*/ 3 w 3981"/>
              <a:gd name="connsiteY0" fmla="*/ 0 h 2527"/>
              <a:gd name="connsiteX1" fmla="*/ 663 w 3981"/>
              <a:gd name="connsiteY1" fmla="*/ 2527 h 2527"/>
              <a:gd name="connsiteX2" fmla="*/ 3981 w 3981"/>
              <a:gd name="connsiteY2" fmla="*/ 1833 h 2527"/>
              <a:gd name="connsiteX3" fmla="*/ 3 w 3981"/>
              <a:gd name="connsiteY3" fmla="*/ 0 h 2527"/>
              <a:gd name="connsiteX0" fmla="*/ 0 w 3978"/>
              <a:gd name="connsiteY0" fmla="*/ 0 h 2527"/>
              <a:gd name="connsiteX1" fmla="*/ 660 w 3978"/>
              <a:gd name="connsiteY1" fmla="*/ 2527 h 2527"/>
              <a:gd name="connsiteX2" fmla="*/ 3978 w 3978"/>
              <a:gd name="connsiteY2" fmla="*/ 1833 h 2527"/>
              <a:gd name="connsiteX3" fmla="*/ 0 w 3978"/>
              <a:gd name="connsiteY3" fmla="*/ 0 h 2527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78" h="2527">
                <a:moveTo>
                  <a:pt x="0" y="0"/>
                </a:moveTo>
                <a:cubicBezTo>
                  <a:pt x="90" y="449"/>
                  <a:pt x="484" y="1911"/>
                  <a:pt x="660" y="2527"/>
                </a:cubicBezTo>
                <a:lnTo>
                  <a:pt x="3978" y="1833"/>
                </a:lnTo>
                <a:lnTo>
                  <a:pt x="0" y="0"/>
                </a:lnTo>
              </a:path>
            </a:pathLst>
          </a:custGeom>
          <a:solidFill>
            <a:schemeClr val="accent4">
              <a:lumMod val="20000"/>
              <a:lumOff val="80000"/>
              <a:alpha val="26000"/>
            </a:schemeClr>
          </a:solidFill>
          <a:ln w="9525">
            <a:noFill/>
            <a:round/>
          </a:ln>
        </p:spPr>
        <p:txBody>
          <a:bodyPr anchor="ctr"/>
          <a:p>
            <a:pPr lvl="0" algn="ctr">
              <a:defRPr lang="ko-KR" altLang="en-US"/>
            </a:pPr>
            <a:endParaRPr lang="en-US" altLang="ko-KR"/>
          </a:p>
        </p:txBody>
      </p:sp>
      <p:grpSp>
        <p:nvGrpSpPr>
          <p:cNvPr id="107" name=""/>
          <p:cNvGrpSpPr/>
          <p:nvPr/>
        </p:nvGrpSpPr>
        <p:grpSpPr>
          <a:xfrm rot="0">
            <a:off x="-1" y="0"/>
            <a:ext cx="12192001" cy="6858001"/>
            <a:chOff x="-1" y="0"/>
            <a:chExt cx="9144001" cy="6858001"/>
          </a:xfrm>
        </p:grpSpPr>
        <p:sp>
          <p:nvSpPr>
            <p:cNvPr id="102" name=""/>
            <p:cNvSpPr/>
            <p:nvPr/>
          </p:nvSpPr>
          <p:spPr>
            <a:xfrm>
              <a:off x="0" y="6184705"/>
              <a:ext cx="2309196" cy="673295"/>
            </a:xfrm>
            <a:custGeom>
              <a:avLst/>
              <a:gdLst>
                <a:gd name="connsiteX0" fmla="*/ 1754 w 1942"/>
                <a:gd name="connsiteY0" fmla="*/ 0 h 560"/>
                <a:gd name="connsiteX1" fmla="*/ 0 w 1942"/>
                <a:gd name="connsiteY1" fmla="*/ 367 h 560"/>
                <a:gd name="connsiteX2" fmla="*/ 0 w 1942"/>
                <a:gd name="connsiteY2" fmla="*/ 560 h 560"/>
                <a:gd name="connsiteX3" fmla="*/ 1942 w 1942"/>
                <a:gd name="connsiteY3" fmla="*/ 560 h 560"/>
                <a:gd name="connsiteX4" fmla="*/ 1754 w 1942"/>
                <a:gd name="connsiteY4" fmla="*/ 0 h 56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2" h="560">
                  <a:moveTo>
                    <a:pt x="1754" y="0"/>
                  </a:moveTo>
                  <a:lnTo>
                    <a:pt x="0" y="367"/>
                  </a:lnTo>
                  <a:lnTo>
                    <a:pt x="0" y="560"/>
                  </a:lnTo>
                  <a:lnTo>
                    <a:pt x="1942" y="560"/>
                  </a:lnTo>
                  <a:cubicBezTo>
                    <a:pt x="1879" y="373"/>
                    <a:pt x="1817" y="187"/>
                    <a:pt x="1754" y="0"/>
                  </a:cubicBezTo>
                </a:path>
              </a:pathLst>
            </a:custGeom>
            <a:solidFill>
              <a:srgbClr val="b6b8ba">
                <a:alpha val="15000"/>
              </a:srgbClr>
            </a:solidFill>
            <a:ln w="9525">
              <a:noFill/>
              <a:round/>
            </a:ln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grpSp>
          <p:nvGrpSpPr>
            <p:cNvPr id="106" name=""/>
            <p:cNvGrpSpPr/>
            <p:nvPr/>
          </p:nvGrpSpPr>
          <p:grpSpPr>
            <a:xfrm rot="0">
              <a:off x="-1" y="0"/>
              <a:ext cx="9144001" cy="6858001"/>
              <a:chOff x="-1" y="0"/>
              <a:chExt cx="9144001" cy="6858001"/>
            </a:xfrm>
          </p:grpSpPr>
          <p:sp>
            <p:nvSpPr>
              <p:cNvPr id="98" name=""/>
              <p:cNvSpPr/>
              <p:nvPr/>
            </p:nvSpPr>
            <p:spPr>
              <a:xfrm>
                <a:off x="428023" y="0"/>
                <a:ext cx="2026194" cy="3135635"/>
              </a:xfrm>
              <a:custGeom>
                <a:avLst/>
                <a:gdLst/>
                <a:cxnLst>
                  <a:cxn ang="0">
                    <a:pos x="1704" y="0"/>
                  </a:cxn>
                  <a:cxn ang="0">
                    <a:pos x="0" y="0"/>
                  </a:cxn>
                  <a:cxn ang="0">
                    <a:pos x="711" y="2609"/>
                  </a:cxn>
                  <a:cxn ang="0">
                    <a:pos x="1704" y="0"/>
                  </a:cxn>
                </a:cxnLst>
                <a:rect l="0" t="0" r="r" b="b"/>
                <a:pathLst>
                  <a:path w="1704" h="2609">
                    <a:moveTo>
                      <a:pt x="1704" y="0"/>
                    </a:moveTo>
                    <a:lnTo>
                      <a:pt x="0" y="0"/>
                    </a:lnTo>
                    <a:lnTo>
                      <a:pt x="711" y="2609"/>
                    </a:lnTo>
                    <a:lnTo>
                      <a:pt x="1704" y="0"/>
                    </a:lnTo>
                  </a:path>
                </a:pathLst>
              </a:custGeom>
              <a:solidFill>
                <a:schemeClr val="accent1">
                  <a:lumMod val="20000"/>
                  <a:lumOff val="80000"/>
                  <a:alpha val="31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99" name=""/>
              <p:cNvSpPr/>
              <p:nvPr/>
            </p:nvSpPr>
            <p:spPr>
              <a:xfrm>
                <a:off x="6028605" y="4696234"/>
                <a:ext cx="3115394" cy="1976604"/>
              </a:xfrm>
              <a:custGeom>
                <a:avLst/>
                <a:gdLst>
                  <a:gd name="connsiteX0" fmla="*/ 2610 w 2610"/>
                  <a:gd name="connsiteY0" fmla="*/ 0 h 1645"/>
                  <a:gd name="connsiteX1" fmla="*/ 0 w 2610"/>
                  <a:gd name="connsiteY1" fmla="*/ 535 h 1645"/>
                  <a:gd name="connsiteX2" fmla="*/ 2610 w 2610"/>
                  <a:gd name="connsiteY2" fmla="*/ 1645 h 1645"/>
                  <a:gd name="connsiteX3" fmla="*/ 2610 w 2610"/>
                  <a:gd name="connsiteY3" fmla="*/ 0 h 1645"/>
                  <a:gd name="connsiteX0" fmla="*/ 2620 w 2620"/>
                  <a:gd name="connsiteY0" fmla="*/ 0 h 1645"/>
                  <a:gd name="connsiteX1" fmla="*/ 0 w 2620"/>
                  <a:gd name="connsiteY1" fmla="*/ 541 h 1645"/>
                  <a:gd name="connsiteX2" fmla="*/ 2620 w 2620"/>
                  <a:gd name="connsiteY2" fmla="*/ 1645 h 1645"/>
                  <a:gd name="connsiteX3" fmla="*/ 2620 w 2620"/>
                  <a:gd name="connsiteY3" fmla="*/ 0 h 1645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20" h="1645">
                    <a:moveTo>
                      <a:pt x="2620" y="0"/>
                    </a:moveTo>
                    <a:lnTo>
                      <a:pt x="0" y="541"/>
                    </a:lnTo>
                    <a:lnTo>
                      <a:pt x="2620" y="1645"/>
                    </a:lnTo>
                    <a:lnTo>
                      <a:pt x="2620" y="0"/>
                    </a:lnTo>
                  </a:path>
                </a:pathLst>
              </a:custGeom>
              <a:solidFill>
                <a:srgbClr val="c6c8ca">
                  <a:alpha val="17000"/>
                </a:srgb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101" name=""/>
              <p:cNvSpPr/>
              <p:nvPr/>
            </p:nvSpPr>
            <p:spPr>
              <a:xfrm>
                <a:off x="2089194" y="5345523"/>
                <a:ext cx="7054806" cy="1512478"/>
              </a:xfrm>
              <a:custGeom>
                <a:avLst/>
                <a:gdLst>
                  <a:gd name="connsiteX0" fmla="*/ 3491 w 5944"/>
                  <a:gd name="connsiteY0" fmla="*/ 0 h 1293"/>
                  <a:gd name="connsiteX1" fmla="*/ 0 w 5944"/>
                  <a:gd name="connsiteY1" fmla="*/ 743 h 1293"/>
                  <a:gd name="connsiteX2" fmla="*/ 194 w 5944"/>
                  <a:gd name="connsiteY2" fmla="*/ 1293 h 1293"/>
                  <a:gd name="connsiteX3" fmla="*/ 5944 w 5944"/>
                  <a:gd name="connsiteY3" fmla="*/ 1293 h 1293"/>
                  <a:gd name="connsiteX4" fmla="*/ 5944 w 5944"/>
                  <a:gd name="connsiteY4" fmla="*/ 1130 h 1293"/>
                  <a:gd name="connsiteX5" fmla="*/ 3491 w 5944"/>
                  <a:gd name="connsiteY5" fmla="*/ 0 h 1293"/>
                  <a:gd name="connsiteX0" fmla="*/ 3347 w 5944"/>
                  <a:gd name="connsiteY0" fmla="*/ 0 h 1264"/>
                  <a:gd name="connsiteX1" fmla="*/ 0 w 5944"/>
                  <a:gd name="connsiteY1" fmla="*/ 714 h 1264"/>
                  <a:gd name="connsiteX2" fmla="*/ 194 w 5944"/>
                  <a:gd name="connsiteY2" fmla="*/ 1264 h 1264"/>
                  <a:gd name="connsiteX3" fmla="*/ 5944 w 5944"/>
                  <a:gd name="connsiteY3" fmla="*/ 1264 h 1264"/>
                  <a:gd name="connsiteX4" fmla="*/ 5944 w 5944"/>
                  <a:gd name="connsiteY4" fmla="*/ 1101 h 1264"/>
                  <a:gd name="connsiteX5" fmla="*/ 3347 w 5944"/>
                  <a:gd name="connsiteY5" fmla="*/ 0 h 1264"/>
                  <a:gd name="connsiteX0" fmla="*/ 3323 w 5944"/>
                  <a:gd name="connsiteY0" fmla="*/ 0 h 1257"/>
                  <a:gd name="connsiteX1" fmla="*/ 0 w 5944"/>
                  <a:gd name="connsiteY1" fmla="*/ 707 h 1257"/>
                  <a:gd name="connsiteX2" fmla="*/ 194 w 5944"/>
                  <a:gd name="connsiteY2" fmla="*/ 1257 h 1257"/>
                  <a:gd name="connsiteX3" fmla="*/ 5944 w 5944"/>
                  <a:gd name="connsiteY3" fmla="*/ 1257 h 1257"/>
                  <a:gd name="connsiteX4" fmla="*/ 5944 w 5944"/>
                  <a:gd name="connsiteY4" fmla="*/ 1094 h 1257"/>
                  <a:gd name="connsiteX5" fmla="*/ 3323 w 5944"/>
                  <a:gd name="connsiteY5" fmla="*/ 0 h 1257"/>
                  <a:gd name="connsiteX0" fmla="*/ 3279 w 5900"/>
                  <a:gd name="connsiteY0" fmla="*/ 0 h 1257"/>
                  <a:gd name="connsiteX1" fmla="*/ 0 w 5900"/>
                  <a:gd name="connsiteY1" fmla="*/ 687 h 1257"/>
                  <a:gd name="connsiteX2" fmla="*/ 150 w 5900"/>
                  <a:gd name="connsiteY2" fmla="*/ 1257 h 1257"/>
                  <a:gd name="connsiteX3" fmla="*/ 5900 w 5900"/>
                  <a:gd name="connsiteY3" fmla="*/ 1257 h 1257"/>
                  <a:gd name="connsiteX4" fmla="*/ 5900 w 5900"/>
                  <a:gd name="connsiteY4" fmla="*/ 1094 h 1257"/>
                  <a:gd name="connsiteX5" fmla="*/ 3279 w 5900"/>
                  <a:gd name="connsiteY5" fmla="*/ 0 h 1257"/>
                  <a:gd name="connsiteX0" fmla="*/ 3314 w 5935"/>
                  <a:gd name="connsiteY0" fmla="*/ 0 h 1257"/>
                  <a:gd name="connsiteX1" fmla="*/ 0 w 5935"/>
                  <a:gd name="connsiteY1" fmla="*/ 695 h 1257"/>
                  <a:gd name="connsiteX2" fmla="*/ 185 w 5935"/>
                  <a:gd name="connsiteY2" fmla="*/ 1257 h 1257"/>
                  <a:gd name="connsiteX3" fmla="*/ 5935 w 5935"/>
                  <a:gd name="connsiteY3" fmla="*/ 1257 h 1257"/>
                  <a:gd name="connsiteX4" fmla="*/ 5935 w 5935"/>
                  <a:gd name="connsiteY4" fmla="*/ 1094 h 1257"/>
                  <a:gd name="connsiteX5" fmla="*/ 3314 w 5935"/>
                  <a:gd name="connsiteY5" fmla="*/ 0 h 1257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935" h="1257">
                    <a:moveTo>
                      <a:pt x="3314" y="0"/>
                    </a:moveTo>
                    <a:lnTo>
                      <a:pt x="0" y="695"/>
                    </a:lnTo>
                    <a:cubicBezTo>
                      <a:pt x="51" y="884"/>
                      <a:pt x="134" y="1068"/>
                      <a:pt x="185" y="1257"/>
                    </a:cubicBezTo>
                    <a:lnTo>
                      <a:pt x="5935" y="1257"/>
                    </a:lnTo>
                    <a:lnTo>
                      <a:pt x="5935" y="1094"/>
                    </a:lnTo>
                    <a:lnTo>
                      <a:pt x="3314" y="0"/>
                    </a:lnTo>
                  </a:path>
                </a:pathLst>
              </a:custGeom>
              <a:solidFill>
                <a:srgbClr val="b6b8ba">
                  <a:alpha val="6000"/>
                </a:srgb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103" name=""/>
              <p:cNvSpPr/>
              <p:nvPr/>
            </p:nvSpPr>
            <p:spPr>
              <a:xfrm>
                <a:off x="-1" y="0"/>
                <a:ext cx="1281830" cy="3138040"/>
              </a:xfrm>
              <a:custGeom>
                <a:avLst/>
                <a:gdLst/>
                <a:cxnLst>
                  <a:cxn ang="0">
                    <a:pos x="372" y="0"/>
                  </a:cxn>
                  <a:cxn ang="0">
                    <a:pos x="1" y="0"/>
                  </a:cxn>
                  <a:cxn ang="0">
                    <a:pos x="0" y="2121"/>
                  </a:cxn>
                  <a:cxn ang="0">
                    <a:pos x="1078" y="2609"/>
                  </a:cxn>
                  <a:cxn ang="0">
                    <a:pos x="372" y="0"/>
                  </a:cxn>
                </a:cxnLst>
                <a:rect l="0" t="0" r="r" b="b"/>
                <a:pathLst>
                  <a:path w="1078" h="2609">
                    <a:moveTo>
                      <a:pt x="372" y="0"/>
                    </a:moveTo>
                    <a:lnTo>
                      <a:pt x="1" y="0"/>
                    </a:lnTo>
                    <a:lnTo>
                      <a:pt x="0" y="2121"/>
                    </a:lnTo>
                    <a:lnTo>
                      <a:pt x="1078" y="2609"/>
                    </a:lnTo>
                    <a:lnTo>
                      <a:pt x="372" y="0"/>
                    </a:lnTo>
                  </a:path>
                </a:pathLst>
              </a:custGeom>
              <a:solidFill>
                <a:schemeClr val="accent1">
                  <a:lumMod val="40000"/>
                  <a:lumOff val="60000"/>
                  <a:alpha val="27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97" name=""/>
              <p:cNvSpPr/>
              <p:nvPr/>
            </p:nvSpPr>
            <p:spPr>
              <a:xfrm>
                <a:off x="1" y="2551106"/>
                <a:ext cx="1285398" cy="4121532"/>
              </a:xfrm>
              <a:custGeom>
                <a:avLst/>
                <a:gdLst>
                  <a:gd name="connsiteX0" fmla="*/ 0 w 1081"/>
                  <a:gd name="connsiteY0" fmla="*/ 0 h 3427"/>
                  <a:gd name="connsiteX1" fmla="*/ 0 w 1081"/>
                  <a:gd name="connsiteY1" fmla="*/ 3427 h 3427"/>
                  <a:gd name="connsiteX2" fmla="*/ 1081 w 1081"/>
                  <a:gd name="connsiteY2" fmla="*/ 490 h 3427"/>
                  <a:gd name="connsiteX3" fmla="*/ 0 w 1081"/>
                  <a:gd name="connsiteY3" fmla="*/ 0 h 3427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81" h="3427">
                    <a:moveTo>
                      <a:pt x="0" y="0"/>
                    </a:moveTo>
                    <a:lnTo>
                      <a:pt x="0" y="3427"/>
                    </a:lnTo>
                    <a:lnTo>
                      <a:pt x="1081" y="49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accent1">
                  <a:lumMod val="40000"/>
                  <a:lumOff val="60000"/>
                  <a:alpha val="8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</p:grpSp>
      </p:grpSp>
      <p:sp>
        <p:nvSpPr>
          <p:cNvPr id="2" name=""/>
          <p:cNvSpPr>
            <a:spLocks noGrp="1"/>
          </p:cNvSpPr>
          <p:nvPr>
            <p:ph type="title" idx="0"/>
          </p:nvPr>
        </p:nvSpPr>
        <p:spPr>
          <a:xfrm>
            <a:off x="431799" y="123802"/>
            <a:ext cx="11302999" cy="939784"/>
          </a:xfrm>
          <a:prstGeom prst="rect">
            <a:avLst/>
          </a:prstGeom>
        </p:spPr>
        <p:txBody>
          <a:bodyPr vert="horz" lIns="91440" tIns="45720" rIns="91440" bIns="45720" anchor="ctr"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body" idx="1"/>
          </p:nvPr>
        </p:nvSpPr>
        <p:spPr>
          <a:xfrm>
            <a:off x="431799" y="1308100"/>
            <a:ext cx="11302999" cy="4960939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  <a:p>
            <a:pPr lvl="8">
              <a:defRPr lang="ko-KR" altLang="en-US"/>
            </a:pPr>
            <a:endParaRPr lang="en-US" altLang="ko-KR"/>
          </a:p>
        </p:txBody>
      </p:sp>
      <p:sp>
        <p:nvSpPr>
          <p:cNvPr id="4" name=""/>
          <p:cNvSpPr>
            <a:spLocks noGrp="1"/>
          </p:cNvSpPr>
          <p:nvPr>
            <p:ph type="dt" sz="half" idx="2"/>
          </p:nvPr>
        </p:nvSpPr>
        <p:spPr>
          <a:xfrm>
            <a:off x="4317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>
              <a:defRPr lang="ko-KR" altLang="en-US"/>
            </a:pPr>
            <a:fld id="{FD839B8E-F55D-4BF8-852C-25AF74D46B3E}" type="datetime1">
              <a:rPr lang="ko-KR" altLang="en-US"/>
              <a:pPr>
                <a:defRPr lang="ko-KR" altLang="en-US"/>
              </a:pPr>
              <a:t>2015-07-13</a:t>
            </a:fld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4"/>
          </p:nvPr>
        </p:nvSpPr>
        <p:spPr>
          <a:xfrm>
            <a:off x="88899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>
              <a:defRPr lang="ko-KR" altLang="en-US"/>
            </a:pPr>
            <a:fld id="{AD22CD3B-FDDF-4998-970C-76E6E0BEC65F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014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ransition xmlns:mc="http://schemas.openxmlformats.org/markup-compatibility/2006" xmlns:hp="http://schemas.haansoft.com/office/presentation/8.0" mc:Ignorable="hp" hp:hslDur="500"/>
  <p:hf sldNum="0" hdr="0" ftr="0" dt="0"/>
  <p:txStyles>
    <p:titleStyle>
      <a:lvl1pPr algn="l" defTabSz="914400" rtl="0" eaLnBrk="1" latinLnBrk="1" hangingPunct="1">
        <a:spcBef>
          <a:spcPct val="0"/>
        </a:spcBef>
        <a:buNone/>
        <a:defRPr sz="3800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66700" indent="-306700" algn="l" defTabSz="914400" rtl="0" eaLnBrk="1" latinLnBrk="1" hangingPunct="1">
        <a:spcBef>
          <a:spcPct val="20000"/>
        </a:spcBef>
        <a:buClr>
          <a:schemeClr val="bg2">
            <a:lumMod val="25000"/>
          </a:schemeClr>
        </a:buClr>
        <a:buSzPct val="80000"/>
        <a:buFont typeface="Wingdings 3"/>
        <a:buChar char=""/>
        <a:defRPr sz="24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1pPr>
      <a:lvl2pPr marL="447675" indent="-257175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Wingdings"/>
        <a:buChar char="§"/>
        <a:defRPr sz="20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2pPr>
      <a:lvl3pPr marL="628650" indent="-180975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Arial"/>
        <a:buChar char="•"/>
        <a:defRPr sz="1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3pPr>
      <a:lvl4pPr marL="809625" indent="-180975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Arial"/>
        <a:buChar char="–"/>
        <a:defRPr sz="16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4pPr>
      <a:lvl5pPr marL="990600" indent="-171450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Arial"/>
        <a:buChar char="»"/>
        <a:defRPr sz="16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5pPr>
      <a:lvl6pPr marL="1160463" indent="-173038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Lucida Sans Unicode"/>
        <a:buChar char="»"/>
        <a:defRPr sz="16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6pPr>
      <a:lvl7pPr marL="1349375" indent="-188913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Lucida Sans Unicode"/>
        <a:buChar char="»"/>
        <a:tabLst>
          <a:tab pos="1349375" algn="l"/>
        </a:tabLst>
        <a:defRPr sz="16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7pPr>
      <a:lvl8pPr marL="1524000" indent="-174625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Lucida Sans Unicode"/>
        <a:buChar char="»"/>
        <a:defRPr sz="16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8pPr>
      <a:lvl9pPr marL="1698625" indent="-174625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Lucida Sans Unicode"/>
        <a:buChar char="»"/>
        <a:defRPr sz="16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0"/>
          </p:nvPr>
        </p:nvSpPr>
        <p:spPr>
          <a:xfrm>
            <a:off x="2270586" y="2212960"/>
            <a:ext cx="9635703" cy="2158926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핀테크 사용자 인사이트 분석 </a:t>
            </a:r>
            <a:br>
              <a:rPr lang="ko-KR" altLang="en-US"/>
            </a:br>
            <a:r>
              <a:rPr lang="ko-KR" altLang="en-US"/>
              <a:t>및 사용자 여정 지도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2270586" y="4371887"/>
            <a:ext cx="9631127" cy="46740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고객 관찰 기반 페르소나, 유저 스토리 및 기능 설계</a:t>
            </a:r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핀테크 앱 사용자에 대한 주요 인사이트</a:t>
            </a:r>
            <a:endParaRPr lang="ko-KR" alt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lvl="0">
              <a:defRPr/>
            </a:pPr>
            <a:r>
              <a:rPr lang="ko-KR" altLang="en-US"/>
              <a:t>사용자는 여러 개의 핀테크 앱(토스, 카카오페이, 네이버페이 등)을 동시에 사용하며, 각각의 장단점을 비교하면서 상황에 따라 선택한다.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SNS에서 인플루언서 또는 지인의 추천을 통해 금융 정보를 접하고, 이를 바탕으로 앱 설치 및 투자를 시도한다.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푸시 알림을 통해 쿠폰, 이벤트, 라이브 방송 등의 정보를 받고 자연스럽게 앱에 유입된다.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핀테크 앱 사용자에 대한 주요 인사이트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idx="1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후기와 리뷰는 과장되거나 신뢰도가 낮다고 느끼며, 영상 또는 실시간 방송을 통해 확인하는 방식에 더 신뢰를 둔다.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금융상품이나 정보를 단순히 제공받기보다는 셀러(전문가)와의 신뢰 관계를 바탕으로 소통하며 판단하고자 한다.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커뮤니티 참여를 통해 소속감과 친밀감을 느끼며, 이는 반복 방문과 구매(또는 투자)로 이어진다.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2775314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Pain Points &amp; Needs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buNone/>
              <a:defRPr/>
            </a:pPr>
            <a:r>
              <a:rPr lang="ko-KR" altLang="en-US" sz="3700" b="1">
                <a:latin typeface="맑은 고딕"/>
                <a:ea typeface="맑은 고딕"/>
              </a:rPr>
              <a:t>Pain Points:</a:t>
            </a:r>
            <a:endParaRPr lang="ko-KR" altLang="en-US" sz="3700" b="1">
              <a:latin typeface="맑은 고딕"/>
              <a:ea typeface="맑은 고딕"/>
            </a:endParaRPr>
          </a:p>
          <a:p>
            <a:pPr marL="266700" lvl="0" indent="-306700">
              <a:buFont typeface="Arial"/>
              <a:buChar char="•"/>
              <a:defRPr/>
            </a:pPr>
            <a:r>
              <a:rPr lang="ko-KR" altLang="en-US" sz="2700"/>
              <a:t>복잡한 UI와 용어 때문에 진입 장벽이 높다.</a:t>
            </a:r>
            <a:endParaRPr lang="ko-KR" altLang="en-US" sz="2700"/>
          </a:p>
          <a:p>
            <a:pPr marL="266700" lvl="0" indent="-306700">
              <a:buFont typeface="Arial"/>
              <a:buChar char="•"/>
              <a:defRPr/>
            </a:pPr>
            <a:endParaRPr lang="ko-KR" altLang="en-US" sz="2700"/>
          </a:p>
          <a:p>
            <a:pPr marL="266700" lvl="0" indent="-306700">
              <a:buFont typeface="Arial"/>
              <a:buChar char="•"/>
              <a:defRPr/>
            </a:pPr>
            <a:r>
              <a:rPr lang="ko-KR" altLang="en-US" sz="2700"/>
              <a:t>기존 리뷰 기반 콘텐츠는 광고성이 강해 신뢰도가 낮다.</a:t>
            </a:r>
            <a:endParaRPr lang="ko-KR" altLang="en-US" sz="2700"/>
          </a:p>
          <a:p>
            <a:pPr marL="266700" lvl="0" indent="-306700">
              <a:buFont typeface="Arial"/>
              <a:buChar char="•"/>
              <a:defRPr/>
            </a:pPr>
            <a:endParaRPr lang="ko-KR" altLang="en-US" sz="2700"/>
          </a:p>
          <a:p>
            <a:pPr marL="266700" lvl="0" indent="-306700">
              <a:buFont typeface="Arial"/>
              <a:buChar char="•"/>
              <a:defRPr/>
            </a:pPr>
            <a:r>
              <a:rPr lang="ko-KR" altLang="en-US" sz="2700"/>
              <a:t>자산이 여러 플랫폼에 분산되어 있어 종합적인 자산 파악이 어렵다.</a:t>
            </a:r>
            <a:endParaRPr lang="ko-KR" altLang="en-US" sz="2700"/>
          </a:p>
          <a:p>
            <a:pPr marL="266700" lvl="0" indent="-306700">
              <a:buFont typeface="Arial"/>
              <a:buChar char="•"/>
              <a:defRPr/>
            </a:pPr>
            <a:endParaRPr lang="ko-KR" altLang="en-US" sz="2700"/>
          </a:p>
          <a:p>
            <a:pPr marL="266700" lvl="0" indent="-306700">
              <a:buFont typeface="Arial"/>
              <a:buChar char="•"/>
              <a:defRPr/>
            </a:pPr>
            <a:r>
              <a:rPr lang="ko-KR" altLang="en-US" sz="2700"/>
              <a:t>DM 또는 비공식 채널을 통한 거래 및 정보 공유는 실수가 잦고 체계적이지 않다.</a:t>
            </a:r>
            <a:endParaRPr lang="ko-KR" altLang="en-US" sz="2700"/>
          </a:p>
        </p:txBody>
      </p:sp>
    </p:spTree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Pain Points &amp; Needs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buNone/>
              <a:defRPr/>
            </a:pPr>
            <a:r>
              <a:rPr lang="ko-KR" altLang="en-US" sz="3700" b="1">
                <a:latin typeface="맑은 고딕"/>
                <a:ea typeface="맑은 고딕"/>
              </a:rPr>
              <a:t>Needs:</a:t>
            </a:r>
            <a:endParaRPr lang="ko-KR" altLang="en-US">
              <a:latin typeface="맑은 고딕"/>
              <a:ea typeface="맑은 고딕"/>
            </a:endParaRPr>
          </a:p>
          <a:p>
            <a:pPr marL="266700" lvl="0" indent="-306700">
              <a:buFont typeface="Arial"/>
              <a:buChar char="•"/>
              <a:defRPr/>
            </a:pPr>
            <a:r>
              <a:rPr lang="ko-KR" altLang="en-US">
                <a:latin typeface="맑은 고딕"/>
                <a:ea typeface="맑은 고딕"/>
              </a:rPr>
              <a:t>금융 초보자도 쉽게 이해할 수 있는 시각적 콘텐츠 (영상, 인포그래픽 등)</a:t>
            </a:r>
            <a:endParaRPr lang="ko-KR" altLang="en-US">
              <a:latin typeface="맑은 고딕"/>
              <a:ea typeface="맑은 고딕"/>
            </a:endParaRPr>
          </a:p>
          <a:p>
            <a:pPr marL="266700" lvl="0" indent="-306700">
              <a:buFont typeface="Arial"/>
              <a:buChar char="•"/>
              <a:defRPr/>
            </a:pPr>
            <a:endParaRPr lang="ko-KR" altLang="en-US">
              <a:latin typeface="맑은 고딕"/>
              <a:ea typeface="맑은 고딕"/>
            </a:endParaRPr>
          </a:p>
          <a:p>
            <a:pPr marL="266700" lvl="0" indent="-306700">
              <a:buFont typeface="Arial"/>
              <a:buChar char="•"/>
              <a:defRPr/>
            </a:pPr>
            <a:r>
              <a:rPr lang="ko-KR" altLang="en-US">
                <a:latin typeface="맑은 고딕"/>
                <a:ea typeface="맑은 고딕"/>
              </a:rPr>
              <a:t>특정 사용자 특성과 관심사에 맞춘 전문가 추천 기능</a:t>
            </a:r>
            <a:endParaRPr lang="ko-KR" altLang="en-US">
              <a:latin typeface="맑은 고딕"/>
              <a:ea typeface="맑은 고딕"/>
            </a:endParaRPr>
          </a:p>
          <a:p>
            <a:pPr marL="266700" lvl="0" indent="-306700">
              <a:buFont typeface="Arial"/>
              <a:buChar char="•"/>
              <a:defRPr/>
            </a:pPr>
            <a:endParaRPr lang="ko-KR" altLang="en-US">
              <a:latin typeface="맑은 고딕"/>
              <a:ea typeface="맑은 고딕"/>
            </a:endParaRPr>
          </a:p>
          <a:p>
            <a:pPr marL="266700" lvl="0" indent="-306700">
              <a:buFont typeface="Arial"/>
              <a:buChar char="•"/>
              <a:defRPr/>
            </a:pPr>
            <a:r>
              <a:rPr lang="ko-KR" altLang="en-US">
                <a:latin typeface="맑은 고딕"/>
                <a:ea typeface="맑은 고딕"/>
              </a:rPr>
              <a:t>통합 자산을 한 화면에서 조회할 수 있는 대시보드</a:t>
            </a:r>
            <a:endParaRPr lang="ko-KR" altLang="en-US">
              <a:latin typeface="맑은 고딕"/>
              <a:ea typeface="맑은 고딕"/>
            </a:endParaRPr>
          </a:p>
          <a:p>
            <a:pPr marL="266700" lvl="0" indent="-306700">
              <a:buFont typeface="Arial"/>
              <a:buChar char="•"/>
              <a:defRPr/>
            </a:pPr>
            <a:endParaRPr lang="ko-KR" altLang="en-US">
              <a:latin typeface="맑은 고딕"/>
              <a:ea typeface="맑은 고딕"/>
            </a:endParaRPr>
          </a:p>
          <a:p>
            <a:pPr marL="266700" lvl="0" indent="-306700">
              <a:buFont typeface="Arial"/>
              <a:buChar char="•"/>
              <a:defRPr/>
            </a:pPr>
            <a:r>
              <a:rPr lang="ko-KR" altLang="en-US">
                <a:latin typeface="맑은 고딕"/>
                <a:ea typeface="맑은 고딕"/>
              </a:rPr>
              <a:t>신뢰 기반의 실시간 소통 시스템 (라이브 방송 + 채팅 + Q&amp;A)</a:t>
            </a:r>
            <a:endParaRPr lang="ko-KR" altLang="en-US"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고객 여정맵 요약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sz="2400"/>
              <a:t>각 단계에 따른 고객 행동, 인식, Pain Point, 기회요소 포함</a:t>
            </a:r>
            <a:endParaRPr lang="ko-KR" altLang="en-US" sz="2400"/>
          </a:p>
          <a:p>
            <a:pPr lvl="0">
              <a:defRPr/>
            </a:pPr>
            <a:endParaRPr lang="ko-KR" altLang="en-US"/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708890" y="1888916"/>
          <a:ext cx="10774218" cy="4376374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52223"/>
                <a:gridCol w="3256886"/>
                <a:gridCol w="2155998"/>
                <a:gridCol w="2154555"/>
                <a:gridCol w="2154555"/>
              </a:tblGrid>
              <a:tr h="610763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000">
                          <a:latin typeface="맑은 고딕"/>
                          <a:ea typeface="맑은 고딕"/>
                        </a:rPr>
                        <a:t>단계</a:t>
                      </a:r>
                      <a:endParaRPr lang="ko-KR" altLang="en-US" sz="2000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000">
                          <a:latin typeface="맑은 고딕"/>
                          <a:ea typeface="맑은 고딕"/>
                        </a:rPr>
                        <a:t>고객 행동</a:t>
                      </a:r>
                      <a:endParaRPr lang="ko-KR" altLang="en-US" sz="2000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000">
                          <a:latin typeface="맑은 고딕"/>
                          <a:ea typeface="맑은 고딕"/>
                        </a:rPr>
                        <a:t>생각/느낌</a:t>
                      </a:r>
                      <a:endParaRPr lang="ko-KR" altLang="en-US" sz="2000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000">
                          <a:latin typeface="맑은 고딕"/>
                          <a:ea typeface="맑은 고딕"/>
                        </a:rPr>
                        <a:t>Pain Point</a:t>
                      </a:r>
                      <a:endParaRPr lang="ko-KR" altLang="en-US" sz="2000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000">
                          <a:latin typeface="맑은 고딕"/>
                          <a:ea typeface="맑은 고딕"/>
                        </a:rPr>
                        <a:t>기회 요인</a:t>
                      </a:r>
                      <a:endParaRPr lang="ko-KR" altLang="en-US" sz="2000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</a:tr>
              <a:tr h="101578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000">
                          <a:latin typeface="맑은 고딕"/>
                          <a:ea typeface="맑은 고딕"/>
                        </a:rPr>
                        <a:t>인지</a:t>
                      </a:r>
                      <a:endParaRPr lang="ko-KR" altLang="en-US" sz="2000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2000">
                          <a:latin typeface="맑은 고딕"/>
                          <a:ea typeface="맑은 고딕"/>
                        </a:rPr>
                        <a:t>SNS, 광고, 친구 추천으로 앱 인지</a:t>
                      </a:r>
                      <a:endParaRPr lang="ko-KR" altLang="en-US" sz="2000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2000">
                          <a:latin typeface="맑은 고딕"/>
                          <a:ea typeface="맑은 고딕"/>
                        </a:rPr>
                        <a:t>"혜택이 좋다는데?"</a:t>
                      </a:r>
                      <a:endParaRPr lang="ko-KR" altLang="en-US" sz="2000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2000">
                          <a:latin typeface="맑은 고딕"/>
                          <a:ea typeface="맑은 고딕"/>
                        </a:rPr>
                        <a:t>앱 기능이 비슷해서 구분 어려움</a:t>
                      </a:r>
                      <a:endParaRPr lang="ko-KR" altLang="en-US" sz="2000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2000">
                          <a:latin typeface="맑은 고딕"/>
                          <a:ea typeface="맑은 고딕"/>
                        </a:rPr>
                        <a:t>이벤트/쿠폰/실시간 방송 알림 중심 온보딩</a:t>
                      </a:r>
                      <a:endParaRPr lang="ko-KR" altLang="en-US" sz="2000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</a:tr>
              <a:tr h="718271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000">
                          <a:latin typeface="맑은 고딕"/>
                          <a:ea typeface="맑은 고딕"/>
                        </a:rPr>
                        <a:t>탐색</a:t>
                      </a:r>
                      <a:endParaRPr lang="ko-KR" altLang="en-US" sz="2000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2000">
                          <a:latin typeface="맑은 고딕"/>
                          <a:ea typeface="맑은 고딕"/>
                        </a:rPr>
                        <a:t>앱 설치 후 탐색, 추천 콘텐츠 조회</a:t>
                      </a:r>
                      <a:endParaRPr lang="ko-KR" altLang="en-US" sz="2000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2000">
                          <a:latin typeface="맑은 고딕"/>
                          <a:ea typeface="맑은 고딕"/>
                        </a:rPr>
                        <a:t>"무슨 기능이 있는 거지?"</a:t>
                      </a:r>
                      <a:endParaRPr lang="ko-KR" altLang="en-US" sz="2000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2000">
                          <a:latin typeface="맑은 고딕"/>
                          <a:ea typeface="맑은 고딕"/>
                        </a:rPr>
                        <a:t>첫 화면이 복잡하고 정보 과잉</a:t>
                      </a:r>
                      <a:endParaRPr lang="ko-KR" altLang="en-US" sz="2000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2000">
                          <a:latin typeface="맑은 고딕"/>
                          <a:ea typeface="맑은 고딕"/>
                        </a:rPr>
                        <a:t>개인 맞춤형 온보딩 플로우 제공</a:t>
                      </a:r>
                      <a:endParaRPr lang="ko-KR" altLang="en-US" sz="2000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</a:tr>
              <a:tr h="101578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000">
                          <a:latin typeface="맑은 고딕"/>
                          <a:ea typeface="맑은 고딕"/>
                        </a:rPr>
                        <a:t>첫 사용</a:t>
                      </a:r>
                      <a:endParaRPr lang="ko-KR" altLang="en-US" sz="2000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2000">
                          <a:latin typeface="맑은 고딕"/>
                          <a:ea typeface="맑은 고딕"/>
                        </a:rPr>
                        <a:t>간편결제, 자산 연동, 영상 시청</a:t>
                      </a:r>
                      <a:endParaRPr lang="ko-KR" altLang="en-US" sz="2000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2000">
                          <a:latin typeface="맑은 고딕"/>
                          <a:ea typeface="맑은 고딕"/>
                        </a:rPr>
                        <a:t>"이거 좀 편한데?"</a:t>
                      </a:r>
                      <a:endParaRPr lang="ko-KR" altLang="en-US" sz="2000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2000">
                          <a:latin typeface="맑은 고딕"/>
                          <a:ea typeface="맑은 고딕"/>
                        </a:rPr>
                        <a:t>전체 자산 보기 어렵고 영상 기능 부족</a:t>
                      </a:r>
                      <a:endParaRPr lang="ko-KR" altLang="en-US" sz="2000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2000">
                          <a:latin typeface="맑은 고딕"/>
                          <a:ea typeface="맑은 고딕"/>
                        </a:rPr>
                        <a:t>시각화된 자산 통합 대시보드, 추천 콘텐츠 노출</a:t>
                      </a:r>
                      <a:endParaRPr lang="ko-KR" altLang="en-US" sz="2000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</a:tr>
              <a:tr h="101578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000">
                          <a:latin typeface="맑은 고딕"/>
                          <a:ea typeface="맑은 고딕"/>
                        </a:rPr>
                        <a:t>심화</a:t>
                      </a:r>
                      <a:endParaRPr lang="ko-KR" altLang="en-US" sz="2000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2000">
                          <a:latin typeface="맑은 고딕"/>
                          <a:ea typeface="맑은 고딕"/>
                        </a:rPr>
                        <a:t>투자 콘텐츠 시청, 전문가 팔로우</a:t>
                      </a:r>
                      <a:endParaRPr lang="ko-KR" altLang="en-US" sz="2000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2000">
                          <a:latin typeface="맑은 고딕"/>
                          <a:ea typeface="맑은 고딕"/>
                        </a:rPr>
                        <a:t>"이 사람 믿을만 하네"</a:t>
                      </a:r>
                      <a:endParaRPr lang="ko-KR" altLang="en-US" sz="2000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2000">
                          <a:latin typeface="맑은 고딕"/>
                          <a:ea typeface="맑은 고딕"/>
                        </a:rPr>
                        <a:t>정보 편향, 거래 번거로움</a:t>
                      </a:r>
                      <a:endParaRPr lang="ko-KR" altLang="en-US" sz="2000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2000">
                          <a:latin typeface="맑은 고딕"/>
                          <a:ea typeface="맑은 고딕"/>
                        </a:rPr>
                        <a:t>전문가 기반 큐레이션 및 거래 시스템 강화</a:t>
                      </a:r>
                      <a:endParaRPr lang="ko-KR" altLang="en-US" sz="2000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고객 여정맵 요약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sz="2400"/>
              <a:t>각 단계에 따른 고객 행동, 인식, Pain Point, 기회요소 포함</a:t>
            </a:r>
            <a:endParaRPr lang="ko-KR" altLang="en-US" sz="2400"/>
          </a:p>
          <a:p>
            <a:pPr lvl="0">
              <a:defRPr/>
            </a:pPr>
            <a:endParaRPr lang="ko-KR" altLang="en-US"/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708890" y="2135067"/>
          <a:ext cx="10772775" cy="256709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448206"/>
                <a:gridCol w="2860903"/>
                <a:gridCol w="2154555"/>
                <a:gridCol w="2154555"/>
                <a:gridCol w="2154555"/>
              </a:tblGrid>
              <a:tr h="55541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000">
                          <a:latin typeface="맑은 고딕"/>
                          <a:ea typeface="맑은 고딕"/>
                        </a:rPr>
                        <a:t>단계</a:t>
                      </a:r>
                      <a:endParaRPr lang="ko-KR" altLang="en-US" sz="2000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000">
                          <a:latin typeface="맑은 고딕"/>
                          <a:ea typeface="맑은 고딕"/>
                        </a:rPr>
                        <a:t>고객 행동</a:t>
                      </a:r>
                      <a:endParaRPr lang="ko-KR" altLang="en-US" sz="2000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000">
                          <a:latin typeface="맑은 고딕"/>
                          <a:ea typeface="맑은 고딕"/>
                        </a:rPr>
                        <a:t>생각/느낌</a:t>
                      </a:r>
                      <a:endParaRPr lang="ko-KR" altLang="en-US" sz="2000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000">
                          <a:latin typeface="맑은 고딕"/>
                          <a:ea typeface="맑은 고딕"/>
                        </a:rPr>
                        <a:t>Pain Point</a:t>
                      </a:r>
                      <a:endParaRPr lang="ko-KR" altLang="en-US" sz="2000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000">
                          <a:latin typeface="맑은 고딕"/>
                          <a:ea typeface="맑은 고딕"/>
                        </a:rPr>
                        <a:t>기회 요인</a:t>
                      </a:r>
                      <a:endParaRPr lang="ko-KR" altLang="en-US" sz="2000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</a:tr>
              <a:tr h="988762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000">
                          <a:latin typeface="맑은 고딕"/>
                          <a:ea typeface="맑은 고딕"/>
                        </a:rPr>
                        <a:t>반복</a:t>
                      </a:r>
                      <a:endParaRPr lang="ko-KR" altLang="en-US" sz="2000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2000">
                          <a:latin typeface="맑은 고딕"/>
                          <a:ea typeface="맑은 고딕"/>
                        </a:rPr>
                        <a:t>단골 셀러 라이브 시청, 채팅 참여</a:t>
                      </a:r>
                      <a:endParaRPr lang="ko-KR" altLang="en-US" sz="2000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2000">
                          <a:latin typeface="맑은 고딕"/>
                          <a:ea typeface="맑은 고딕"/>
                        </a:rPr>
                        <a:t>"이 방송은 믿고 본다"</a:t>
                      </a:r>
                      <a:endParaRPr lang="ko-KR" altLang="en-US" sz="2000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2000">
                          <a:latin typeface="맑은 고딕"/>
                          <a:ea typeface="맑은 고딕"/>
                        </a:rPr>
                        <a:t>일정 누락, 결제 오류</a:t>
                      </a:r>
                      <a:endParaRPr lang="ko-KR" altLang="en-US" sz="2000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2000">
                          <a:latin typeface="맑은 고딕"/>
                          <a:ea typeface="맑은 고딕"/>
                        </a:rPr>
                        <a:t>단골 기능, 방송 알림, 참여형 인터랙션 강화</a:t>
                      </a:r>
                      <a:endParaRPr lang="ko-KR" altLang="en-US" sz="2000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</a:tr>
              <a:tr h="988762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000">
                          <a:latin typeface="맑은 고딕"/>
                          <a:ea typeface="맑은 고딕"/>
                        </a:rPr>
                        <a:t>이탈/추천</a:t>
                      </a:r>
                      <a:endParaRPr lang="ko-KR" altLang="en-US" sz="2000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2000">
                          <a:latin typeface="맑은 고딕"/>
                          <a:ea typeface="맑은 고딕"/>
                        </a:rPr>
                        <a:t>앱 리뷰, 추천 공유 또는 삭제</a:t>
                      </a:r>
                      <a:endParaRPr lang="ko-KR" altLang="en-US" sz="2000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2000">
                          <a:latin typeface="맑은 고딕"/>
                          <a:ea typeface="맑은 고딕"/>
                        </a:rPr>
                        <a:t>"요즘엔 이거 많이 쓴다"</a:t>
                      </a:r>
                      <a:endParaRPr lang="ko-KR" altLang="en-US" sz="2000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2000">
                          <a:latin typeface="맑은 고딕"/>
                          <a:ea typeface="맑은 고딕"/>
                        </a:rPr>
                        <a:t>사용 가치 떨어지면 빠른 이탈</a:t>
                      </a:r>
                      <a:endParaRPr lang="ko-KR" altLang="en-US" sz="2000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2000">
                          <a:latin typeface="맑은 고딕"/>
                          <a:ea typeface="맑은 고딕"/>
                        </a:rPr>
                        <a:t>커뮤니티 중심 지속 참여 유도 및 피드백 채널 강화</a:t>
                      </a:r>
                      <a:endParaRPr lang="ko-KR" altLang="en-US" sz="2000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페르소나 - 박지현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>
              <a:defRPr/>
            </a:pPr>
            <a:r>
              <a:rPr lang="ko-KR" altLang="en-US"/>
              <a:t>직업: 마케팅 에이전시 AE / 거주: 서울 성수동 / 디지털 환경 친숙 / SNS 기반 소비에 익숙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평소 패션, 금융, 라이프스타일 트렌드에 민감하며, 실용성과 신뢰를 동시에 중시함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토스와 카카오페이를 주로 사용하며, 최근엔 라이브 방송 기반 금융 콘텐츠에 관심이 많아짐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주식, 예금, 펀드 등 자산이 다방면에 분산되어 있으며 관리의 필요성을 느낌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marL="0" lvl="0" indent="0">
              <a:buNone/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페르소나 - 박지현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buNone/>
              <a:defRPr/>
            </a:pPr>
            <a:r>
              <a:rPr lang="ko-KR" altLang="en-US" sz="2700" b="1"/>
              <a:t>Needs</a:t>
            </a:r>
            <a:endParaRPr lang="ko-KR" altLang="en-US" sz="2700" b="1"/>
          </a:p>
          <a:p>
            <a:pPr marL="0" lvl="0" indent="0">
              <a:buNone/>
              <a:defRPr/>
            </a:pPr>
            <a:endParaRPr lang="ko-KR" altLang="en-US"/>
          </a:p>
          <a:p>
            <a:pPr marL="342900" lvl="0" indent="-342900">
              <a:defRPr/>
            </a:pPr>
            <a:r>
              <a:rPr lang="ko-KR" altLang="en-US"/>
              <a:t>친숙한 언어와 시각적 표현을 기반으로 한 금융정보 제공</a:t>
            </a:r>
            <a:endParaRPr lang="ko-KR" altLang="en-US"/>
          </a:p>
          <a:p>
            <a:pPr marL="342900" lvl="0" indent="-342900">
              <a:defRPr/>
            </a:pPr>
            <a:endParaRPr lang="ko-KR" altLang="en-US"/>
          </a:p>
          <a:p>
            <a:pPr marL="342900" lvl="0" indent="-342900">
              <a:defRPr/>
            </a:pPr>
            <a:r>
              <a:rPr lang="ko-KR" altLang="en-US"/>
              <a:t>라이브 방송을 통해 질문하고 소통하며 투자 결정</a:t>
            </a:r>
            <a:endParaRPr lang="ko-KR" altLang="en-US"/>
          </a:p>
          <a:p>
            <a:pPr marL="342900" lvl="0" indent="-342900">
              <a:defRPr/>
            </a:pPr>
            <a:endParaRPr lang="ko-KR" altLang="en-US"/>
          </a:p>
          <a:p>
            <a:pPr marL="342900" lvl="0" indent="-342900">
              <a:defRPr/>
            </a:pPr>
            <a:r>
              <a:rPr lang="ko-KR" altLang="en-US"/>
              <a:t>단골 셀러를 중심으로 구성된 신뢰 기반 콘텐츠</a:t>
            </a:r>
            <a:endParaRPr lang="ko-KR" altLang="en-US"/>
          </a:p>
          <a:p>
            <a:pPr marL="342900" lvl="0" indent="-342900">
              <a:defRPr/>
            </a:pPr>
            <a:endParaRPr lang="ko-KR" altLang="en-US"/>
          </a:p>
          <a:p>
            <a:pPr marL="342900" lvl="0" indent="-342900">
              <a:defRPr/>
            </a:pPr>
            <a:r>
              <a:rPr lang="ko-KR" altLang="en-US"/>
              <a:t>전체 자산을 한눈에 파악하고 리스크를 최소화하는 정보 설계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marL="0" lvl="0" indent="0">
              <a:buNone/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페르소나 - 박지현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buNone/>
              <a:defRPr/>
            </a:pPr>
            <a:r>
              <a:rPr lang="ko-KR" altLang="en-US" sz="2700" b="1"/>
              <a:t>Pain Points</a:t>
            </a:r>
            <a:endParaRPr lang="ko-KR" altLang="en-US" sz="2700" b="1"/>
          </a:p>
          <a:p>
            <a:pPr marL="0" lvl="0" indent="0">
              <a:buNone/>
              <a:defRPr/>
            </a:pPr>
            <a:endParaRPr lang="ko-KR" altLang="en-US"/>
          </a:p>
          <a:p>
            <a:pPr marL="342900" lvl="0" indent="-342900">
              <a:defRPr/>
            </a:pPr>
            <a:r>
              <a:rPr lang="ko-KR" altLang="en-US"/>
              <a:t>금융 용어에 대한 어려움</a:t>
            </a:r>
            <a:endParaRPr lang="ko-KR" altLang="en-US"/>
          </a:p>
          <a:p>
            <a:pPr marL="342900" lvl="0" indent="-342900">
              <a:defRPr/>
            </a:pPr>
            <a:endParaRPr lang="ko-KR" altLang="en-US"/>
          </a:p>
          <a:p>
            <a:pPr marL="342900" lvl="0" indent="-342900">
              <a:defRPr/>
            </a:pPr>
            <a:r>
              <a:rPr lang="ko-KR" altLang="en-US"/>
              <a:t>어디서부터 시작할지 막막함</a:t>
            </a:r>
            <a:endParaRPr lang="ko-KR" altLang="en-US"/>
          </a:p>
          <a:p>
            <a:pPr marL="342900" lvl="0" indent="-342900">
              <a:defRPr/>
            </a:pPr>
            <a:endParaRPr lang="ko-KR" altLang="en-US"/>
          </a:p>
          <a:p>
            <a:pPr marL="342900" lvl="0" indent="-342900">
              <a:defRPr/>
            </a:pPr>
            <a:r>
              <a:rPr lang="ko-KR" altLang="en-US"/>
              <a:t>한 번에 모든 자산을 파악할 수 없음</a:t>
            </a:r>
            <a:endParaRPr lang="ko-KR" altLang="en-US"/>
          </a:p>
          <a:p>
            <a:pPr marL="342900" lvl="0" indent="-342900">
              <a:defRPr/>
            </a:pPr>
            <a:endParaRPr lang="ko-KR" altLang="en-US"/>
          </a:p>
          <a:p>
            <a:pPr marL="342900" lvl="0" indent="-342900">
              <a:defRPr/>
            </a:pPr>
            <a:r>
              <a:rPr lang="ko-KR" altLang="en-US"/>
              <a:t>과장된 후기나 광고성 콘텐츠에 대한 피로감</a:t>
            </a:r>
            <a:endParaRPr lang="ko-KR" altLang="en-US"/>
          </a:p>
        </p:txBody>
      </p:sp>
    </p:spTree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User Stories (Persona: 박지현)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92000" lvl="0" indent="-592000">
              <a:buAutoNum type="arabicPeriod"/>
              <a:defRPr/>
            </a:pPr>
            <a:r>
              <a:rPr lang="ko-KR" altLang="en-US"/>
              <a:t>자산이 여기저기 흩어져 있어서 하나의 화면에서 전체를 확인하고 싶다.</a:t>
            </a:r>
            <a:endParaRPr lang="ko-KR" altLang="en-US"/>
          </a:p>
          <a:p>
            <a:pPr marL="592000" lvl="0" indent="-592000">
              <a:buAutoNum type="arabicPeriod"/>
              <a:defRPr/>
            </a:pPr>
            <a:endParaRPr lang="ko-KR" altLang="en-US"/>
          </a:p>
          <a:p>
            <a:pPr marL="592000" lvl="0" indent="-592000">
              <a:buAutoNum type="arabicPeriod"/>
              <a:defRPr/>
            </a:pPr>
            <a:r>
              <a:rPr lang="ko-KR" altLang="en-US"/>
              <a:t>복잡한 글 대신 영상으로 쉽게 금융 콘텐츠를 소비하고 싶다.</a:t>
            </a:r>
            <a:endParaRPr lang="ko-KR" altLang="en-US"/>
          </a:p>
          <a:p>
            <a:pPr marL="592000" lvl="0" indent="-592000">
              <a:buAutoNum type="arabicPeriod"/>
              <a:defRPr/>
            </a:pPr>
            <a:endParaRPr lang="ko-KR" altLang="en-US"/>
          </a:p>
          <a:p>
            <a:pPr marL="592000" lvl="0" indent="-592000">
              <a:buAutoNum type="arabicPeriod"/>
              <a:defRPr/>
            </a:pPr>
            <a:r>
              <a:rPr lang="ko-KR" altLang="en-US"/>
              <a:t>내가 자주 보는 전문가가 추천하는 상품만 보고 싶다.</a:t>
            </a:r>
            <a:endParaRPr lang="ko-KR" altLang="en-US"/>
          </a:p>
          <a:p>
            <a:pPr marL="592000" lvl="0" indent="-592000">
              <a:buAutoNum type="arabicPeriod"/>
              <a:defRPr/>
            </a:pPr>
            <a:endParaRPr lang="ko-KR" altLang="en-US"/>
          </a:p>
          <a:p>
            <a:pPr marL="592000" lvl="0" indent="-592000">
              <a:buAutoNum type="arabicPeriod"/>
              <a:defRPr/>
            </a:pPr>
            <a:r>
              <a:rPr lang="ko-KR" altLang="en-US"/>
              <a:t>방송 보면서 바로 질문하고 답변 받을 수 있으면 좋겠다.</a:t>
            </a:r>
            <a:endParaRPr lang="ko-KR" altLang="en-US"/>
          </a:p>
          <a:p>
            <a:pPr marL="592000" lvl="0" indent="-592000">
              <a:buAutoNum type="arabicPeriod"/>
              <a:defRPr/>
            </a:pPr>
            <a:endParaRPr lang="ko-KR" altLang="en-US"/>
          </a:p>
          <a:p>
            <a:pPr marL="592000" lvl="0" indent="-592000">
              <a:buAutoNum type="arabicPeriod"/>
              <a:defRPr/>
            </a:pPr>
            <a:r>
              <a:rPr lang="ko-KR" altLang="en-US"/>
              <a:t>같은 관심사를 가진 사람들과 방송을 함께 보고 이야기 나누고 싶다.</a:t>
            </a:r>
            <a:endParaRPr lang="ko-KR" altLang="en-US"/>
          </a:p>
          <a:p>
            <a:pPr marL="592000" lvl="0" indent="-592000">
              <a:buAutoNum type="arabicPeriod"/>
              <a:defRPr/>
            </a:pPr>
            <a:endParaRPr lang="ko-KR" altLang="en-US"/>
          </a:p>
          <a:p>
            <a:pPr marL="592000" lvl="0" indent="-592000">
              <a:buAutoNum type="arabicPeriod"/>
              <a:defRPr/>
            </a:pPr>
            <a:r>
              <a:rPr lang="ko-KR" altLang="en-US"/>
              <a:t>오류나 피드백을 주면 빠르게 반응하고 개선되는 경험을 원한다.</a:t>
            </a:r>
            <a:endParaRPr lang="ko-KR" altLang="en-US"/>
          </a:p>
        </p:txBody>
      </p:sp>
    </p:spTree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444500" y="123802"/>
            <a:ext cx="11302999" cy="939784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Gherkin 시나리오 (박지현 중심 설계)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500" y="1308100"/>
            <a:ext cx="11302999" cy="4960939"/>
          </a:xfrm>
        </p:spPr>
        <p:txBody>
          <a:bodyPr/>
          <a:lstStyle/>
          <a:p>
            <a:pPr marL="0" lvl="0" indent="0">
              <a:buNone/>
              <a:defRPr/>
            </a:pPr>
            <a:endParaRPr lang="ko-KR" altLang="en-US" sz="3700"/>
          </a:p>
          <a:p>
            <a:pPr marL="0" lvl="0" indent="0">
              <a:buNone/>
              <a:defRPr/>
            </a:pPr>
            <a:endParaRPr lang="ko-KR" altLang="en-US" sz="3700"/>
          </a:p>
          <a:p>
            <a:pPr marL="0" lvl="0" indent="0">
              <a:buNone/>
              <a:defRPr/>
            </a:pPr>
            <a:endParaRPr lang="ko-KR" altLang="en-US" sz="3700"/>
          </a:p>
          <a:p>
            <a:pPr marL="0" lvl="0" indent="0">
              <a:buNone/>
              <a:defRPr/>
            </a:pPr>
            <a:endParaRPr lang="ko-KR" altLang="en-US" sz="2900"/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444500" y="1308100"/>
          <a:ext cx="11311890" cy="4960939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868805"/>
                <a:gridCol w="6501272"/>
                <a:gridCol w="2941813"/>
              </a:tblGrid>
              <a:tr h="64316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700"/>
                        <a:t>제목 </a:t>
                      </a:r>
                      <a:endParaRPr lang="en-US" altLang="ko-KR" sz="2700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2700"/>
                        <a:t>박지현은 하나의 화면에서 자산을 볼 수 있다</a:t>
                      </a:r>
                      <a:r>
                        <a:rPr lang="en-US" altLang="ko-KR" sz="2700"/>
                        <a:t>.</a:t>
                      </a:r>
                      <a:endParaRPr lang="en-US" altLang="ko-KR" sz="2700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2700"/>
                        <a:t>우선순위</a:t>
                      </a:r>
                      <a:r>
                        <a:rPr lang="en-US" altLang="ko-KR" sz="2700"/>
                        <a:t>(</a:t>
                      </a:r>
                      <a:r>
                        <a:rPr lang="ko-KR" altLang="en-US" sz="2700"/>
                        <a:t>상</a:t>
                      </a:r>
                      <a:r>
                        <a:rPr lang="en-US" altLang="ko-KR" sz="2700"/>
                        <a:t>,</a:t>
                      </a:r>
                      <a:r>
                        <a:rPr lang="ko-KR" altLang="en-US" sz="2700"/>
                        <a:t> 중</a:t>
                      </a:r>
                      <a:r>
                        <a:rPr lang="en-US" altLang="ko-KR" sz="2700"/>
                        <a:t>,</a:t>
                      </a:r>
                      <a:r>
                        <a:rPr lang="ko-KR" altLang="en-US" sz="2700"/>
                        <a:t> 하</a:t>
                      </a:r>
                      <a:r>
                        <a:rPr lang="en-US" altLang="ko-KR" sz="2700"/>
                        <a:t>)</a:t>
                      </a:r>
                      <a:endParaRPr lang="en-US" altLang="ko-KR" sz="2700"/>
                    </a:p>
                  </a:txBody>
                  <a:tcPr marL="91440" marR="91440"/>
                </a:tc>
              </a:tr>
              <a:tr h="1592921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700"/>
                        <a:t>유저스토리</a:t>
                      </a:r>
                      <a:endParaRPr lang="ko-KR" altLang="en-US" sz="2700"/>
                    </a:p>
                    <a:p>
                      <a:pPr lvl="0" algn="ctr">
                        <a:defRPr/>
                      </a:pPr>
                      <a:r>
                        <a:rPr lang="en-US" altLang="ko-KR" sz="2700"/>
                        <a:t>(background)</a:t>
                      </a:r>
                      <a:endParaRPr lang="en-US" altLang="ko-KR" sz="2700"/>
                    </a:p>
                  </a:txBody>
                  <a:tcPr marL="91440" marR="91440" anchor="ctr"/>
                </a:tc>
                <a:tc gridSpan="2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 sz="2700"/>
                        <a:t>AS(</a:t>
                      </a:r>
                      <a:r>
                        <a:rPr lang="ko-KR" altLang="en-US" sz="2700"/>
                        <a:t>사용자</a:t>
                      </a:r>
                      <a:r>
                        <a:rPr lang="en-US" altLang="ko-KR" sz="2700"/>
                        <a:t>):</a:t>
                      </a:r>
                      <a:r>
                        <a:rPr lang="ko-KR" altLang="en-US" sz="2700"/>
                        <a:t> 박지현</a:t>
                      </a:r>
                      <a:endParaRPr lang="ko-KR" altLang="en-US" sz="2700"/>
                    </a:p>
                    <a:p>
                      <a:pPr lvl="0">
                        <a:defRPr/>
                      </a:pPr>
                      <a:r>
                        <a:rPr lang="en-US" altLang="ko-KR" sz="2700"/>
                        <a:t>I</a:t>
                      </a:r>
                      <a:r>
                        <a:rPr lang="ko-KR" altLang="en-US" sz="2700"/>
                        <a:t> </a:t>
                      </a:r>
                      <a:r>
                        <a:rPr lang="en-US" altLang="ko-KR" sz="2700"/>
                        <a:t>Want(</a:t>
                      </a:r>
                      <a:r>
                        <a:rPr lang="ko-KR" altLang="en-US" sz="2700"/>
                        <a:t>행동</a:t>
                      </a:r>
                      <a:r>
                        <a:rPr lang="en-US" altLang="ko-KR" sz="2700"/>
                        <a:t>):</a:t>
                      </a:r>
                      <a:r>
                        <a:rPr lang="ko-KR" altLang="en-US" sz="2700"/>
                        <a:t> 하나의 화면에서 자산을 보고 싶다</a:t>
                      </a:r>
                      <a:r>
                        <a:rPr lang="en-US" altLang="ko-KR" sz="2700"/>
                        <a:t>.</a:t>
                      </a:r>
                      <a:endParaRPr lang="en-US" altLang="ko-KR" sz="2700"/>
                    </a:p>
                    <a:p>
                      <a:pPr lvl="0">
                        <a:defRPr/>
                      </a:pPr>
                      <a:r>
                        <a:rPr lang="en-US" altLang="ko-KR" sz="2700"/>
                        <a:t>So that(</a:t>
                      </a:r>
                      <a:r>
                        <a:rPr lang="ko-KR" altLang="en-US" sz="2700"/>
                        <a:t>니즈</a:t>
                      </a:r>
                      <a:r>
                        <a:rPr lang="en-US" altLang="ko-KR" sz="2700"/>
                        <a:t>/</a:t>
                      </a:r>
                      <a:r>
                        <a:rPr lang="ko-KR" altLang="en-US" sz="2700"/>
                        <a:t>목적</a:t>
                      </a:r>
                      <a:r>
                        <a:rPr lang="en-US" altLang="ko-KR" sz="2700"/>
                        <a:t>):</a:t>
                      </a:r>
                      <a:r>
                        <a:rPr lang="ko-KR" altLang="en-US" sz="2700"/>
                        <a:t> 간단하게 개인 자산 목록 확인</a:t>
                      </a:r>
                      <a:endParaRPr lang="ko-KR" altLang="en-US" sz="2700"/>
                    </a:p>
                  </a:txBody>
                  <a:tcPr marL="91440" marR="91440" anchor="ctr"/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en-US" altLang="ko-KR"/>
                    </a:p>
                  </a:txBody>
                  <a:tcPr marL="91440" marR="91440"/>
                </a:tc>
              </a:tr>
              <a:tr h="2076129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700"/>
                        <a:t>구현에 대한 기준</a:t>
                      </a:r>
                      <a:endParaRPr lang="ko-KR" altLang="en-US" sz="2700"/>
                    </a:p>
                    <a:p>
                      <a:pPr lvl="0" algn="ctr">
                        <a:defRPr/>
                      </a:pPr>
                      <a:r>
                        <a:rPr lang="en-US" altLang="ko-KR" sz="2700"/>
                        <a:t>(acceptance criteria)</a:t>
                      </a:r>
                      <a:endParaRPr lang="en-US" altLang="ko-KR" sz="2700"/>
                    </a:p>
                  </a:txBody>
                  <a:tcPr marL="91440" marR="91440" anchor="ctr"/>
                </a:tc>
                <a:tc gridSpan="2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marL="0" lvl="0" indent="0">
                        <a:buNone/>
                        <a:defRPr/>
                      </a:pPr>
                      <a:r>
                        <a:rPr lang="ko-KR" altLang="en-US" sz="2700"/>
                        <a:t>시나리오 1: 자산 통합 대시보드 확인</a:t>
                      </a:r>
                      <a:endParaRPr lang="ko-KR" altLang="en-US" sz="2700"/>
                    </a:p>
                    <a:p>
                      <a:pPr marL="266700" lvl="0" indent="-306700">
                        <a:buFont typeface="Arial"/>
                        <a:buChar char="•"/>
                        <a:defRPr/>
                      </a:pPr>
                      <a:r>
                        <a:rPr lang="ko-KR" altLang="en-US" sz="2700"/>
                        <a:t>Given 박지현이 여러 금융기관에 자산을 분산 보유하고 있을 때</a:t>
                      </a:r>
                      <a:endParaRPr lang="ko-KR" altLang="en-US" sz="2700"/>
                    </a:p>
                    <a:p>
                      <a:pPr marL="266700" lvl="0" indent="-306700">
                        <a:buFont typeface="Arial"/>
                        <a:buChar char="•"/>
                        <a:defRPr/>
                      </a:pPr>
                      <a:r>
                        <a:rPr lang="ko-KR" altLang="en-US" sz="2700"/>
                        <a:t>When 그녀가 앱에 로그인하고 '자산 보기' 메뉴를 클릭하면</a:t>
                      </a:r>
                      <a:endParaRPr lang="ko-KR" altLang="en-US" sz="2700"/>
                    </a:p>
                    <a:p>
                      <a:pPr marL="266700" lvl="0" indent="-306700">
                        <a:buFont typeface="Arial"/>
                        <a:buChar char="•"/>
                        <a:defRPr/>
                      </a:pPr>
                      <a:r>
                        <a:rPr lang="ko-KR" altLang="en-US" sz="2700"/>
                        <a:t>Then 그녀는 모든 금융 자산을 통합 그래프로 확인할 수 있다</a:t>
                      </a:r>
                      <a:endParaRPr lang="ko-KR" altLang="en-US" sz="2700"/>
                    </a:p>
                  </a:txBody>
                  <a:tcPr marL="91440" marR="91440" anchor="ctr"/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en-US" altLang="ko-KR"/>
                    </a:p>
                  </a:txBody>
                  <a:tcPr marL="91440" marR="91440"/>
                </a:tc>
              </a:tr>
              <a:tr h="648721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2700"/>
                        <a:t>비고</a:t>
                      </a:r>
                      <a:endParaRPr lang="ko-KR" altLang="en-US" sz="2700"/>
                    </a:p>
                  </a:txBody>
                  <a:tcPr marL="91440" marR="91440" anchor="ctr"/>
                </a:tc>
                <a:tc gridSpan="2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 sz="2700"/>
                    </a:p>
                  </a:txBody>
                  <a:tcPr marL="91440" marR="91440" anchor="ctr"/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en-US" altLang="ko-KR"/>
                    </a:p>
                  </a:txBody>
                  <a:tcPr marL="91440" marR="91440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Gherkin 시나리오 (박지현 중심 설계)</a:t>
            </a:r>
            <a:endParaRPr lang="ko-KR" altLang="en-US"/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444500" y="1308100"/>
          <a:ext cx="11309985" cy="5228362"/>
        </p:xfrm>
        <a:graphic>
          <a:graphicData uri="http://schemas.openxmlformats.org/drawingml/2006/table">
            <a:tbl>
              <a:tblPr firstRow="1" bandRow="1">
                <a:tableStyle styleId="{01A66EDD-3DAB-4C5B-A090-DC80EC1FD486}" styleName="Normal Style 1 - Accent 1">
                  <a:wholeTbl>
                    <a:tcTxStyle>
                      <a:fontRef idx="minor">
                        <a:prstClr val="black"/>
                      </a:fontRef>
                      <a:schemeClr val="dk1"/>
                    </a:tcTxStyle>
                    <a:tcStyle>
                      <a:tcBdr>
                        <a:left>
                          <a:ln w="12700" cmpd="sng">
                            <a:solidFill>
                              <a:schemeClr val="lt1"/>
                            </a:solidFill>
                          </a:ln>
                        </a:left>
                        <a:right>
                          <a:ln w="12700" cmpd="sng">
                            <a:solidFill>
                              <a:schemeClr val="lt1"/>
                            </a:solidFill>
                          </a:ln>
                        </a:right>
                        <a:top>
                          <a:ln w="12700" cmpd="sng">
                            <a:solidFill>
                              <a:schemeClr val="lt1"/>
                            </a:solidFill>
                          </a:ln>
                        </a:top>
                        <a:bottom>
                          <a:ln w="12700" cmpd="sng">
                            <a:solidFill>
                              <a:schemeClr val="lt1"/>
                            </a:solidFill>
                          </a:ln>
                        </a:bottom>
                        <a:insideH>
                          <a:ln w="12700" cmpd="sng">
                            <a:solidFill>
                              <a:schemeClr val="lt1"/>
                            </a:solidFill>
                          </a:ln>
                        </a:insideH>
                        <a:insideV>
                          <a:ln w="12700" cmpd="sng">
                            <a:solidFill>
                              <a:schemeClr val="lt1"/>
                            </a:solidFill>
                          </a:ln>
                        </a:insideV>
                      </a:tcBdr>
                      <a:fill>
                        <a:solidFill>
                          <a:schemeClr val="accent1">
                            <a:lum val="90000"/>
                          </a:schemeClr>
                        </a:solidFill>
                      </a:fill>
                    </a:tcStyle>
                  </a:wholeTbl>
                  <a:band1H>
                    <a:tcTxStyle/>
                    <a:tcStyle>
                      <a:tcBdr/>
                      <a:fill>
                        <a:solidFill>
                          <a:schemeClr val="accent1">
                            <a:lum val="80000"/>
                          </a:schemeClr>
                        </a:solidFill>
                      </a:fill>
                    </a:tcStyle>
                  </a:band1H>
                  <a:band2H>
                    <a:tcTxStyle/>
                    <a:tcStyle>
                      <a:tcBdr/>
                    </a:tcStyle>
                  </a:band2H>
                  <a:band1V>
                    <a:tcTxStyle/>
                    <a:tcStyle>
                      <a:tcBdr/>
                      <a:fill>
                        <a:solidFill>
                          <a:schemeClr val="accent1">
                            <a:lum val="80000"/>
                          </a:schemeClr>
                        </a:solidFill>
                      </a:fill>
                    </a:tcStyle>
                  </a:band1V>
                  <a:band2V>
                    <a:tcTxStyle/>
                    <a:tcStyle>
                      <a:tcBdr/>
                    </a:tcStyle>
                  </a:band2V>
                  <a:lastCol>
                    <a:tcTxStyle b="on">
                      <a:fontRef idx="minor">
                        <a:prstClr val="black"/>
                      </a:fontRef>
                      <a:schemeClr val="lt1"/>
                    </a:tcTxStyle>
                    <a:tcStyle>
                      <a:tcBdr/>
                      <a:fill>
                        <a:solidFill>
                          <a:schemeClr val="accent1"/>
                        </a:solidFill>
                      </a:fill>
                    </a:tcStyle>
                  </a:lastCol>
                  <a:firstCol>
                    <a:tcTxStyle b="on">
                      <a:fontRef idx="minor">
                        <a:prstClr val="black"/>
                      </a:fontRef>
                      <a:schemeClr val="lt1"/>
                    </a:tcTxStyle>
                    <a:tcStyle>
                      <a:tcBdr/>
                      <a:fill>
                        <a:solidFill>
                          <a:schemeClr val="accent1"/>
                        </a:solidFill>
                      </a:fill>
                    </a:tcStyle>
                  </a:firstCol>
                  <a:lastRow>
                    <a:tcTxStyle b="on">
                      <a:fontRef idx="minor">
                        <a:prstClr val="black"/>
                      </a:fontRef>
                      <a:schemeClr val="lt1"/>
                    </a:tcTxStyle>
                    <a:tcStyle>
                      <a:tcBdr>
                        <a:top>
                          <a:ln w="38100" cmpd="sng">
                            <a:solidFill>
                              <a:schemeClr val="lt1"/>
                            </a:solidFill>
                          </a:ln>
                        </a:top>
                      </a:tcBdr>
                      <a:fill>
                        <a:solidFill>
                          <a:schemeClr val="accent1"/>
                        </a:solidFill>
                      </a:fill>
                    </a:tcStyle>
                  </a:lastRow>
                  <a:firstRow>
                    <a:tcTxStyle b="on">
                      <a:fontRef idx="minor">
                        <a:prstClr val="black"/>
                      </a:fontRef>
                      <a:schemeClr val="lt1"/>
                    </a:tcTxStyle>
                    <a:tcStyle>
                      <a:tcBdr>
                        <a:bottom>
                          <a:ln w="38100" cmpd="sng">
                            <a:solidFill>
                              <a:schemeClr val="lt1"/>
                            </a:solidFill>
                          </a:ln>
                        </a:bottom>
                      </a:tcBdr>
                      <a:fill>
                        <a:solidFill>
                          <a:schemeClr val="accent1"/>
                        </a:solidFill>
                      </a:fill>
                    </a:tcStyle>
                  </a:firstRow>
                </a:tableStyle>
              </a:tblPr>
              <a:tblGrid>
                <a:gridCol w="1868805"/>
                <a:gridCol w="6499367"/>
                <a:gridCol w="2941813"/>
              </a:tblGrid>
              <a:tr h="64316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700"/>
                        <a:t>제목 </a:t>
                      </a:r>
                      <a:endParaRPr lang="en-US" altLang="ko-KR" sz="2700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marL="0" lvl="0" indent="0">
                        <a:buNone/>
                        <a:defRPr/>
                      </a:pPr>
                      <a:r>
                        <a:rPr lang="ko-KR" altLang="en-US" sz="2700"/>
                        <a:t>내가 자주 보는 전문가가 추천하는 상품만 보고 싶다.</a:t>
                      </a:r>
                      <a:endParaRPr lang="en-US" altLang="ko-KR" sz="2700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2700"/>
                        <a:t>우선순위</a:t>
                      </a:r>
                      <a:r>
                        <a:rPr lang="en-US" altLang="ko-KR" sz="2700"/>
                        <a:t>(</a:t>
                      </a:r>
                      <a:r>
                        <a:rPr lang="ko-KR" altLang="en-US" sz="2700"/>
                        <a:t>상</a:t>
                      </a:r>
                      <a:r>
                        <a:rPr lang="en-US" altLang="ko-KR" sz="2700"/>
                        <a:t>,</a:t>
                      </a:r>
                      <a:r>
                        <a:rPr lang="ko-KR" altLang="en-US" sz="2700"/>
                        <a:t> 중</a:t>
                      </a:r>
                      <a:r>
                        <a:rPr lang="en-US" altLang="ko-KR" sz="2700"/>
                        <a:t>,</a:t>
                      </a:r>
                      <a:r>
                        <a:rPr lang="ko-KR" altLang="en-US" sz="2700"/>
                        <a:t> 하</a:t>
                      </a:r>
                      <a:r>
                        <a:rPr lang="en-US" altLang="ko-KR" sz="2700"/>
                        <a:t>)</a:t>
                      </a:r>
                      <a:endParaRPr lang="en-US" altLang="ko-KR" sz="2700"/>
                    </a:p>
                  </a:txBody>
                  <a:tcPr marL="91440" marR="91440"/>
                </a:tc>
              </a:tr>
              <a:tr h="1592921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700"/>
                        <a:t>유저스토리</a:t>
                      </a:r>
                      <a:endParaRPr lang="ko-KR" altLang="en-US" sz="2700"/>
                    </a:p>
                    <a:p>
                      <a:pPr lvl="0" algn="ctr">
                        <a:defRPr/>
                      </a:pPr>
                      <a:r>
                        <a:rPr lang="en-US" altLang="ko-KR" sz="2700"/>
                        <a:t>(background)</a:t>
                      </a:r>
                      <a:endParaRPr lang="en-US" altLang="ko-KR" sz="2700"/>
                    </a:p>
                  </a:txBody>
                  <a:tcPr marL="91440" marR="91440" anchor="ctr"/>
                </a:tc>
                <a:tc gridSpan="2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 sz="2700"/>
                        <a:t>AS(</a:t>
                      </a:r>
                      <a:r>
                        <a:rPr lang="ko-KR" altLang="en-US" sz="2700"/>
                        <a:t>사용자</a:t>
                      </a:r>
                      <a:r>
                        <a:rPr lang="en-US" altLang="ko-KR" sz="2700"/>
                        <a:t>):</a:t>
                      </a:r>
                      <a:r>
                        <a:rPr lang="ko-KR" altLang="en-US" sz="2700"/>
                        <a:t> 박지현</a:t>
                      </a:r>
                      <a:endParaRPr lang="ko-KR" altLang="en-US" sz="2700"/>
                    </a:p>
                    <a:p>
                      <a:pPr marL="0" lvl="0" indent="0">
                        <a:buNone/>
                        <a:defRPr/>
                      </a:pPr>
                      <a:r>
                        <a:rPr lang="en-US" altLang="ko-KR" sz="2700"/>
                        <a:t>I</a:t>
                      </a:r>
                      <a:r>
                        <a:rPr lang="ko-KR" altLang="en-US" sz="2700"/>
                        <a:t> </a:t>
                      </a:r>
                      <a:r>
                        <a:rPr lang="en-US" altLang="ko-KR" sz="2700"/>
                        <a:t>Want(</a:t>
                      </a:r>
                      <a:r>
                        <a:rPr lang="ko-KR" altLang="en-US" sz="2700"/>
                        <a:t>행동</a:t>
                      </a:r>
                      <a:r>
                        <a:rPr lang="en-US" altLang="ko-KR" sz="2700"/>
                        <a:t>):</a:t>
                      </a:r>
                      <a:r>
                        <a:rPr lang="ko-KR" altLang="en-US" sz="2700"/>
                        <a:t> 내가 자주 보는 전문가가 추천하는 상품만 보고 싶다.</a:t>
                      </a:r>
                      <a:endParaRPr lang="en-US" altLang="ko-KR" sz="2700"/>
                    </a:p>
                    <a:p>
                      <a:pPr lvl="0">
                        <a:defRPr/>
                      </a:pPr>
                      <a:r>
                        <a:rPr lang="en-US" altLang="ko-KR" sz="2700"/>
                        <a:t>So that(</a:t>
                      </a:r>
                      <a:r>
                        <a:rPr lang="ko-KR" altLang="en-US" sz="2700"/>
                        <a:t>니즈</a:t>
                      </a:r>
                      <a:r>
                        <a:rPr lang="en-US" altLang="ko-KR" sz="2700"/>
                        <a:t>/</a:t>
                      </a:r>
                      <a:r>
                        <a:rPr lang="ko-KR" altLang="en-US" sz="2700"/>
                        <a:t>목적</a:t>
                      </a:r>
                      <a:r>
                        <a:rPr lang="en-US" altLang="ko-KR" sz="2700"/>
                        <a:t>):</a:t>
                      </a:r>
                      <a:r>
                        <a:rPr lang="ko-KR" altLang="en-US" sz="2700"/>
                        <a:t> 신뢰 하는 전문가의 정보만으로 투자</a:t>
                      </a:r>
                      <a:endParaRPr lang="ko-KR" altLang="en-US" sz="2700"/>
                    </a:p>
                  </a:txBody>
                  <a:tcPr marL="91440" marR="91440" anchor="ctr"/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en-US" altLang="ko-KR"/>
                    </a:p>
                  </a:txBody>
                  <a:tcPr marL="91440" marR="91440"/>
                </a:tc>
              </a:tr>
              <a:tr h="2076129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700"/>
                        <a:t>구현에 대한 기준</a:t>
                      </a:r>
                      <a:endParaRPr lang="ko-KR" altLang="en-US" sz="2700"/>
                    </a:p>
                    <a:p>
                      <a:pPr lvl="0" algn="ctr">
                        <a:defRPr/>
                      </a:pPr>
                      <a:r>
                        <a:rPr lang="en-US" altLang="ko-KR" sz="2700"/>
                        <a:t>(acceptance criteria)</a:t>
                      </a:r>
                      <a:endParaRPr lang="en-US" altLang="ko-KR" sz="2700"/>
                    </a:p>
                  </a:txBody>
                  <a:tcPr marL="91440" marR="91440" anchor="ctr"/>
                </a:tc>
                <a:tc gridSpan="2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marL="0" lvl="0" indent="0">
                        <a:buNone/>
                        <a:defRPr/>
                      </a:pPr>
                      <a:r>
                        <a:rPr lang="ko-KR" altLang="en-US" sz="2700"/>
                        <a:t>시나리오 2: 신뢰하는 전문가 콘텐츠 확인</a:t>
                      </a:r>
                      <a:endParaRPr lang="ko-KR" altLang="en-US" sz="2700"/>
                    </a:p>
                    <a:p>
                      <a:pPr marL="266700" lvl="0" indent="-306700">
                        <a:buFont typeface="Arial"/>
                        <a:buChar char="•"/>
                        <a:defRPr/>
                      </a:pPr>
                      <a:r>
                        <a:rPr lang="ko-KR" altLang="en-US" sz="2700"/>
                        <a:t>Given 박지현이 전문가 A를 단골로 등록한 상태에서</a:t>
                      </a:r>
                      <a:endParaRPr lang="ko-KR" altLang="en-US" sz="2700"/>
                    </a:p>
                    <a:p>
                      <a:pPr marL="266700" lvl="0" indent="-306700">
                        <a:buFont typeface="Arial"/>
                        <a:buChar char="•"/>
                        <a:defRPr/>
                      </a:pPr>
                      <a:r>
                        <a:rPr lang="ko-KR" altLang="en-US" sz="2700"/>
                        <a:t>When A가 새로운 영상을 등록하면</a:t>
                      </a:r>
                      <a:endParaRPr lang="ko-KR" altLang="en-US" sz="2700"/>
                    </a:p>
                    <a:p>
                      <a:pPr marL="266700" lvl="0" indent="-306700">
                        <a:buFont typeface="Arial"/>
                        <a:buChar char="•"/>
                        <a:defRPr/>
                      </a:pPr>
                      <a:r>
                        <a:rPr lang="ko-KR" altLang="en-US" sz="2700"/>
                        <a:t>Then 푸시 알림이 오고 홈 상단에 A의 콘텐츠가 노출된다</a:t>
                      </a:r>
                      <a:endParaRPr lang="ko-KR" altLang="en-US" sz="2700"/>
                    </a:p>
                  </a:txBody>
                  <a:tcPr marL="91440" marR="91440" anchor="ctr"/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en-US" altLang="ko-KR"/>
                    </a:p>
                  </a:txBody>
                  <a:tcPr marL="91440" marR="91440"/>
                </a:tc>
              </a:tr>
              <a:tr h="648721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2700"/>
                        <a:t>비고</a:t>
                      </a:r>
                      <a:endParaRPr lang="ko-KR" altLang="en-US" sz="2700"/>
                    </a:p>
                  </a:txBody>
                  <a:tcPr marL="91440" marR="91440" anchor="ctr"/>
                </a:tc>
                <a:tc gridSpan="2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 sz="2700"/>
                    </a:p>
                  </a:txBody>
                  <a:tcPr marL="91440" marR="91440" anchor="ctr"/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en-US" altLang="ko-KR"/>
                    </a:p>
                  </a:txBody>
                  <a:tcPr marL="91440" marR="91440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Gherkin 시나리오 (박지현 중심 설계)</a:t>
            </a:r>
            <a:endParaRPr lang="ko-KR" altLang="en-US"/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444500" y="1308100"/>
          <a:ext cx="11308573" cy="5447416"/>
        </p:xfrm>
        <a:graphic>
          <a:graphicData uri="http://schemas.openxmlformats.org/drawingml/2006/table">
            <a:tbl>
              <a:tblPr firstRow="1" bandRow="1">
                <a:tableStyle styleId="{01A66EDD-3DAB-4C5B-A090-DC80EC1FD486}" styleName="Normal Style 1 - Accent 1">
                  <a:wholeTbl>
                    <a:tcTxStyle>
                      <a:fontRef idx="minor">
                        <a:prstClr val="black"/>
                      </a:fontRef>
                      <a:schemeClr val="dk1"/>
                    </a:tcTxStyle>
                    <a:tcStyle>
                      <a:tcBdr>
                        <a:left>
                          <a:ln w="12700" cmpd="sng">
                            <a:solidFill>
                              <a:schemeClr val="lt1"/>
                            </a:solidFill>
                          </a:ln>
                        </a:left>
                        <a:right>
                          <a:ln w="12700" cmpd="sng">
                            <a:solidFill>
                              <a:schemeClr val="lt1"/>
                            </a:solidFill>
                          </a:ln>
                        </a:right>
                        <a:top>
                          <a:ln w="12700" cmpd="sng">
                            <a:solidFill>
                              <a:schemeClr val="lt1"/>
                            </a:solidFill>
                          </a:ln>
                        </a:top>
                        <a:bottom>
                          <a:ln w="12700" cmpd="sng">
                            <a:solidFill>
                              <a:schemeClr val="lt1"/>
                            </a:solidFill>
                          </a:ln>
                        </a:bottom>
                        <a:insideH>
                          <a:ln w="12700" cmpd="sng">
                            <a:solidFill>
                              <a:schemeClr val="lt1"/>
                            </a:solidFill>
                          </a:ln>
                        </a:insideH>
                        <a:insideV>
                          <a:ln w="12700" cmpd="sng">
                            <a:solidFill>
                              <a:schemeClr val="lt1"/>
                            </a:solidFill>
                          </a:ln>
                        </a:insideV>
                      </a:tcBdr>
                      <a:fill>
                        <a:solidFill>
                          <a:schemeClr val="accent1">
                            <a:lum val="90000"/>
                          </a:schemeClr>
                        </a:solidFill>
                      </a:fill>
                    </a:tcStyle>
                  </a:wholeTbl>
                  <a:band1H>
                    <a:tcTxStyle/>
                    <a:tcStyle>
                      <a:tcBdr/>
                      <a:fill>
                        <a:solidFill>
                          <a:schemeClr val="accent1">
                            <a:lum val="80000"/>
                          </a:schemeClr>
                        </a:solidFill>
                      </a:fill>
                    </a:tcStyle>
                  </a:band1H>
                  <a:band2H>
                    <a:tcTxStyle/>
                    <a:tcStyle>
                      <a:tcBdr/>
                    </a:tcStyle>
                  </a:band2H>
                  <a:band1V>
                    <a:tcTxStyle/>
                    <a:tcStyle>
                      <a:tcBdr/>
                      <a:fill>
                        <a:solidFill>
                          <a:schemeClr val="accent1">
                            <a:lum val="80000"/>
                          </a:schemeClr>
                        </a:solidFill>
                      </a:fill>
                    </a:tcStyle>
                  </a:band1V>
                  <a:band2V>
                    <a:tcTxStyle/>
                    <a:tcStyle>
                      <a:tcBdr/>
                    </a:tcStyle>
                  </a:band2V>
                  <a:lastCol>
                    <a:tcTxStyle b="on">
                      <a:fontRef idx="minor">
                        <a:prstClr val="black"/>
                      </a:fontRef>
                      <a:schemeClr val="lt1"/>
                    </a:tcTxStyle>
                    <a:tcStyle>
                      <a:tcBdr/>
                      <a:fill>
                        <a:solidFill>
                          <a:schemeClr val="accent1"/>
                        </a:solidFill>
                      </a:fill>
                    </a:tcStyle>
                  </a:lastCol>
                  <a:firstCol>
                    <a:tcTxStyle b="on">
                      <a:fontRef idx="minor">
                        <a:prstClr val="black"/>
                      </a:fontRef>
                      <a:schemeClr val="lt1"/>
                    </a:tcTxStyle>
                    <a:tcStyle>
                      <a:tcBdr/>
                      <a:fill>
                        <a:solidFill>
                          <a:schemeClr val="accent1"/>
                        </a:solidFill>
                      </a:fill>
                    </a:tcStyle>
                  </a:firstCol>
                  <a:lastRow>
                    <a:tcTxStyle b="on">
                      <a:fontRef idx="minor">
                        <a:prstClr val="black"/>
                      </a:fontRef>
                      <a:schemeClr val="lt1"/>
                    </a:tcTxStyle>
                    <a:tcStyle>
                      <a:tcBdr>
                        <a:top>
                          <a:ln w="38100" cmpd="sng">
                            <a:solidFill>
                              <a:schemeClr val="lt1"/>
                            </a:solidFill>
                          </a:ln>
                        </a:top>
                      </a:tcBdr>
                      <a:fill>
                        <a:solidFill>
                          <a:schemeClr val="accent1"/>
                        </a:solidFill>
                      </a:fill>
                    </a:tcStyle>
                  </a:lastRow>
                  <a:firstRow>
                    <a:tcTxStyle b="on">
                      <a:fontRef idx="minor">
                        <a:prstClr val="black"/>
                      </a:fontRef>
                      <a:schemeClr val="lt1"/>
                    </a:tcTxStyle>
                    <a:tcStyle>
                      <a:tcBdr>
                        <a:bottom>
                          <a:ln w="38100" cmpd="sng">
                            <a:solidFill>
                              <a:schemeClr val="lt1"/>
                            </a:solidFill>
                          </a:ln>
                        </a:bottom>
                      </a:tcBdr>
                      <a:fill>
                        <a:solidFill>
                          <a:schemeClr val="accent1"/>
                        </a:solidFill>
                      </a:fill>
                    </a:tcStyle>
                  </a:firstRow>
                </a:tableStyle>
              </a:tblPr>
              <a:tblGrid>
                <a:gridCol w="1868805"/>
                <a:gridCol w="6497955"/>
                <a:gridCol w="2941813"/>
              </a:tblGrid>
              <a:tr h="64316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700"/>
                        <a:t>제목 </a:t>
                      </a:r>
                      <a:endParaRPr lang="en-US" altLang="ko-KR" sz="2700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marL="0" lvl="0" indent="0">
                        <a:buNone/>
                        <a:defRPr/>
                      </a:pPr>
                      <a:r>
                        <a:rPr lang="ko-KR" altLang="en-US" sz="2700"/>
                        <a:t>방송 보면서 바로 질문하고 답변 받을 수 있으면 좋겠다.</a:t>
                      </a:r>
                      <a:endParaRPr lang="en-US" altLang="ko-KR" sz="2700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2700"/>
                        <a:t>우선순위</a:t>
                      </a:r>
                      <a:r>
                        <a:rPr lang="en-US" altLang="ko-KR" sz="2700"/>
                        <a:t>(</a:t>
                      </a:r>
                      <a:r>
                        <a:rPr lang="ko-KR" altLang="en-US" sz="2700"/>
                        <a:t>상</a:t>
                      </a:r>
                      <a:r>
                        <a:rPr lang="en-US" altLang="ko-KR" sz="2700"/>
                        <a:t>,</a:t>
                      </a:r>
                      <a:r>
                        <a:rPr lang="ko-KR" altLang="en-US" sz="2700"/>
                        <a:t> 중</a:t>
                      </a:r>
                      <a:r>
                        <a:rPr lang="en-US" altLang="ko-KR" sz="2700"/>
                        <a:t>,</a:t>
                      </a:r>
                      <a:r>
                        <a:rPr lang="ko-KR" altLang="en-US" sz="2700"/>
                        <a:t> 하</a:t>
                      </a:r>
                      <a:r>
                        <a:rPr lang="en-US" altLang="ko-KR" sz="2700"/>
                        <a:t>)</a:t>
                      </a:r>
                      <a:endParaRPr lang="en-US" altLang="ko-KR" sz="2700"/>
                    </a:p>
                  </a:txBody>
                  <a:tcPr marL="91440" marR="91440"/>
                </a:tc>
              </a:tr>
              <a:tr h="1592921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700"/>
                        <a:t>유저스토리</a:t>
                      </a:r>
                      <a:endParaRPr lang="ko-KR" altLang="en-US" sz="2700"/>
                    </a:p>
                    <a:p>
                      <a:pPr lvl="0" algn="ctr">
                        <a:defRPr/>
                      </a:pPr>
                      <a:r>
                        <a:rPr lang="en-US" altLang="ko-KR" sz="2700"/>
                        <a:t>(background)</a:t>
                      </a:r>
                      <a:endParaRPr lang="en-US" altLang="ko-KR" sz="2700"/>
                    </a:p>
                  </a:txBody>
                  <a:tcPr marL="91440" marR="91440" anchor="ctr"/>
                </a:tc>
                <a:tc gridSpan="2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 sz="2700"/>
                        <a:t>AS(</a:t>
                      </a:r>
                      <a:r>
                        <a:rPr lang="ko-KR" altLang="en-US" sz="2700"/>
                        <a:t>사용자</a:t>
                      </a:r>
                      <a:r>
                        <a:rPr lang="en-US" altLang="ko-KR" sz="2700"/>
                        <a:t>):</a:t>
                      </a:r>
                      <a:r>
                        <a:rPr lang="ko-KR" altLang="en-US" sz="2700"/>
                        <a:t> 박지현</a:t>
                      </a:r>
                      <a:endParaRPr lang="ko-KR" altLang="en-US" sz="2700"/>
                    </a:p>
                    <a:p>
                      <a:pPr marL="0" lvl="0" indent="0">
                        <a:buNone/>
                        <a:defRPr/>
                      </a:pPr>
                      <a:r>
                        <a:rPr lang="en-US" altLang="ko-KR" sz="2700"/>
                        <a:t>I</a:t>
                      </a:r>
                      <a:r>
                        <a:rPr lang="ko-KR" altLang="en-US" sz="2700"/>
                        <a:t> </a:t>
                      </a:r>
                      <a:r>
                        <a:rPr lang="en-US" altLang="ko-KR" sz="2700"/>
                        <a:t>Want(</a:t>
                      </a:r>
                      <a:r>
                        <a:rPr lang="ko-KR" altLang="en-US" sz="2700"/>
                        <a:t>행동</a:t>
                      </a:r>
                      <a:r>
                        <a:rPr lang="en-US" altLang="ko-KR" sz="2700"/>
                        <a:t>):</a:t>
                      </a:r>
                      <a:r>
                        <a:rPr lang="ko-KR" altLang="en-US" sz="2700"/>
                        <a:t> 방송 보면서 바로 질문하고 답변 받을 수 있으면 좋겠다.</a:t>
                      </a:r>
                      <a:endParaRPr lang="en-US" altLang="ko-KR" sz="2700"/>
                    </a:p>
                    <a:p>
                      <a:pPr lvl="0">
                        <a:defRPr/>
                      </a:pPr>
                      <a:r>
                        <a:rPr lang="en-US" altLang="ko-KR" sz="2700"/>
                        <a:t>So that(</a:t>
                      </a:r>
                      <a:r>
                        <a:rPr lang="ko-KR" altLang="en-US" sz="2700"/>
                        <a:t>니즈</a:t>
                      </a:r>
                      <a:r>
                        <a:rPr lang="en-US" altLang="ko-KR" sz="2700"/>
                        <a:t>/</a:t>
                      </a:r>
                      <a:r>
                        <a:rPr lang="ko-KR" altLang="en-US" sz="2700"/>
                        <a:t>목적</a:t>
                      </a:r>
                      <a:r>
                        <a:rPr lang="en-US" altLang="ko-KR" sz="2700"/>
                        <a:t>):</a:t>
                      </a:r>
                      <a:r>
                        <a:rPr lang="ko-KR" altLang="en-US" sz="2700"/>
                        <a:t> 어려운 금융 관련 용어 이해</a:t>
                      </a:r>
                      <a:endParaRPr lang="ko-KR" altLang="en-US" sz="2700"/>
                    </a:p>
                  </a:txBody>
                  <a:tcPr marL="91440" marR="91440" anchor="ctr"/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en-US" altLang="ko-KR"/>
                    </a:p>
                  </a:txBody>
                  <a:tcPr marL="91440" marR="91440"/>
                </a:tc>
              </a:tr>
              <a:tr h="2076129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700"/>
                        <a:t>구현에 대한 기준</a:t>
                      </a:r>
                      <a:endParaRPr lang="ko-KR" altLang="en-US" sz="2700"/>
                    </a:p>
                    <a:p>
                      <a:pPr lvl="0" algn="ctr">
                        <a:defRPr/>
                      </a:pPr>
                      <a:r>
                        <a:rPr lang="en-US" altLang="ko-KR" sz="2700"/>
                        <a:t>(acceptance criteria)</a:t>
                      </a:r>
                      <a:endParaRPr lang="en-US" altLang="ko-KR" sz="2700"/>
                    </a:p>
                  </a:txBody>
                  <a:tcPr marL="91440" marR="91440" anchor="ctr"/>
                </a:tc>
                <a:tc gridSpan="2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marL="0" lvl="0" indent="0">
                        <a:buNone/>
                        <a:defRPr/>
                      </a:pPr>
                      <a:r>
                        <a:rPr lang="ko-KR" altLang="en-US" sz="2700"/>
                        <a:t>시나리오 3: 실시간 질문 및 답변</a:t>
                      </a:r>
                      <a:endParaRPr lang="ko-KR" altLang="en-US" sz="2700"/>
                    </a:p>
                    <a:p>
                      <a:pPr marL="266700" lvl="0" indent="-306700">
                        <a:buFont typeface="Arial"/>
                        <a:buChar char="•"/>
                        <a:defRPr/>
                      </a:pPr>
                      <a:r>
                        <a:rPr lang="ko-KR" altLang="en-US" sz="2700"/>
                        <a:t>Given 박지현이 A의 라이브 방송을 시청 중일 때</a:t>
                      </a:r>
                      <a:endParaRPr lang="ko-KR" altLang="en-US" sz="2700"/>
                    </a:p>
                    <a:p>
                      <a:pPr marL="266700" lvl="0" indent="-306700">
                        <a:buFont typeface="Arial"/>
                        <a:buChar char="•"/>
                        <a:defRPr/>
                      </a:pPr>
                      <a:r>
                        <a:rPr lang="ko-KR" altLang="en-US" sz="2700"/>
                        <a:t>When 채팅창에 "ETF란 무엇인가요?"라고 질문하면</a:t>
                      </a:r>
                      <a:endParaRPr lang="ko-KR" altLang="en-US" sz="2700"/>
                    </a:p>
                    <a:p>
                      <a:pPr marL="266700" lvl="0" indent="-306700">
                        <a:buFont typeface="Arial"/>
                        <a:buChar char="•"/>
                        <a:defRPr/>
                      </a:pPr>
                      <a:r>
                        <a:rPr lang="ko-KR" altLang="en-US" sz="2700"/>
                        <a:t>Then 방송자가 질문을 확인하고 1분 이내에 실시간으로 답변한다</a:t>
                      </a:r>
                      <a:endParaRPr lang="ko-KR" altLang="en-US" sz="2700"/>
                    </a:p>
                  </a:txBody>
                  <a:tcPr marL="91440" marR="91440" anchor="ctr"/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en-US" altLang="ko-KR"/>
                    </a:p>
                  </a:txBody>
                  <a:tcPr marL="91440" marR="91440"/>
                </a:tc>
              </a:tr>
              <a:tr h="648721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2700"/>
                        <a:t>비고</a:t>
                      </a:r>
                      <a:endParaRPr lang="ko-KR" altLang="en-US" sz="2700"/>
                    </a:p>
                  </a:txBody>
                  <a:tcPr marL="91440" marR="91440" anchor="ctr"/>
                </a:tc>
                <a:tc gridSpan="2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 sz="2700"/>
                    </a:p>
                  </a:txBody>
                  <a:tcPr marL="91440" marR="91440" anchor="ctr"/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en-US" altLang="ko-KR"/>
                    </a:p>
                  </a:txBody>
                  <a:tcPr marL="91440" marR="91440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Gherkin 시나리오 (박지현 중심 설계)</a:t>
            </a:r>
            <a:endParaRPr lang="ko-KR" altLang="en-US"/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444500" y="1308100"/>
          <a:ext cx="11309985" cy="5374705"/>
        </p:xfrm>
        <a:graphic>
          <a:graphicData uri="http://schemas.openxmlformats.org/drawingml/2006/table">
            <a:tbl>
              <a:tblPr firstRow="1" bandRow="1">
                <a:tableStyle styleId="{01A66EDD-3DAB-4C5B-A090-DC80EC1FD486}" styleName="Normal Style 1 - Accent 1">
                  <a:wholeTbl>
                    <a:tcTxStyle>
                      <a:fontRef idx="minor">
                        <a:prstClr val="black"/>
                      </a:fontRef>
                      <a:schemeClr val="dk1"/>
                    </a:tcTxStyle>
                    <a:tcStyle>
                      <a:tcBdr>
                        <a:left>
                          <a:ln w="12700" cmpd="sng">
                            <a:solidFill>
                              <a:schemeClr val="lt1"/>
                            </a:solidFill>
                          </a:ln>
                        </a:left>
                        <a:right>
                          <a:ln w="12700" cmpd="sng">
                            <a:solidFill>
                              <a:schemeClr val="lt1"/>
                            </a:solidFill>
                          </a:ln>
                        </a:right>
                        <a:top>
                          <a:ln w="12700" cmpd="sng">
                            <a:solidFill>
                              <a:schemeClr val="lt1"/>
                            </a:solidFill>
                          </a:ln>
                        </a:top>
                        <a:bottom>
                          <a:ln w="12700" cmpd="sng">
                            <a:solidFill>
                              <a:schemeClr val="lt1"/>
                            </a:solidFill>
                          </a:ln>
                        </a:bottom>
                        <a:insideH>
                          <a:ln w="12700" cmpd="sng">
                            <a:solidFill>
                              <a:schemeClr val="lt1"/>
                            </a:solidFill>
                          </a:ln>
                        </a:insideH>
                        <a:insideV>
                          <a:ln w="12700" cmpd="sng">
                            <a:solidFill>
                              <a:schemeClr val="lt1"/>
                            </a:solidFill>
                          </a:ln>
                        </a:insideV>
                      </a:tcBdr>
                      <a:fill>
                        <a:solidFill>
                          <a:schemeClr val="accent1">
                            <a:lum val="90000"/>
                          </a:schemeClr>
                        </a:solidFill>
                      </a:fill>
                    </a:tcStyle>
                  </a:wholeTbl>
                  <a:band1H>
                    <a:tcTxStyle/>
                    <a:tcStyle>
                      <a:tcBdr/>
                      <a:fill>
                        <a:solidFill>
                          <a:schemeClr val="accent1">
                            <a:lum val="80000"/>
                          </a:schemeClr>
                        </a:solidFill>
                      </a:fill>
                    </a:tcStyle>
                  </a:band1H>
                  <a:band2H>
                    <a:tcTxStyle/>
                    <a:tcStyle>
                      <a:tcBdr/>
                    </a:tcStyle>
                  </a:band2H>
                  <a:band1V>
                    <a:tcTxStyle/>
                    <a:tcStyle>
                      <a:tcBdr/>
                      <a:fill>
                        <a:solidFill>
                          <a:schemeClr val="accent1">
                            <a:lum val="80000"/>
                          </a:schemeClr>
                        </a:solidFill>
                      </a:fill>
                    </a:tcStyle>
                  </a:band1V>
                  <a:band2V>
                    <a:tcTxStyle/>
                    <a:tcStyle>
                      <a:tcBdr/>
                    </a:tcStyle>
                  </a:band2V>
                  <a:lastCol>
                    <a:tcTxStyle b="on">
                      <a:fontRef idx="minor">
                        <a:prstClr val="black"/>
                      </a:fontRef>
                      <a:schemeClr val="lt1"/>
                    </a:tcTxStyle>
                    <a:tcStyle>
                      <a:tcBdr/>
                      <a:fill>
                        <a:solidFill>
                          <a:schemeClr val="accent1"/>
                        </a:solidFill>
                      </a:fill>
                    </a:tcStyle>
                  </a:lastCol>
                  <a:firstCol>
                    <a:tcTxStyle b="on">
                      <a:fontRef idx="minor">
                        <a:prstClr val="black"/>
                      </a:fontRef>
                      <a:schemeClr val="lt1"/>
                    </a:tcTxStyle>
                    <a:tcStyle>
                      <a:tcBdr/>
                      <a:fill>
                        <a:solidFill>
                          <a:schemeClr val="accent1"/>
                        </a:solidFill>
                      </a:fill>
                    </a:tcStyle>
                  </a:firstCol>
                  <a:lastRow>
                    <a:tcTxStyle b="on">
                      <a:fontRef idx="minor">
                        <a:prstClr val="black"/>
                      </a:fontRef>
                      <a:schemeClr val="lt1"/>
                    </a:tcTxStyle>
                    <a:tcStyle>
                      <a:tcBdr>
                        <a:top>
                          <a:ln w="38100" cmpd="sng">
                            <a:solidFill>
                              <a:schemeClr val="lt1"/>
                            </a:solidFill>
                          </a:ln>
                        </a:top>
                      </a:tcBdr>
                      <a:fill>
                        <a:solidFill>
                          <a:schemeClr val="accent1"/>
                        </a:solidFill>
                      </a:fill>
                    </a:tcStyle>
                  </a:lastRow>
                  <a:firstRow>
                    <a:tcTxStyle b="on">
                      <a:fontRef idx="minor">
                        <a:prstClr val="black"/>
                      </a:fontRef>
                      <a:schemeClr val="lt1"/>
                    </a:tcTxStyle>
                    <a:tcStyle>
                      <a:tcBdr>
                        <a:bottom>
                          <a:ln w="38100" cmpd="sng">
                            <a:solidFill>
                              <a:schemeClr val="lt1"/>
                            </a:solidFill>
                          </a:ln>
                        </a:bottom>
                      </a:tcBdr>
                      <a:fill>
                        <a:solidFill>
                          <a:schemeClr val="accent1"/>
                        </a:solidFill>
                      </a:fill>
                    </a:tcStyle>
                  </a:firstRow>
                </a:tableStyle>
              </a:tblPr>
              <a:tblGrid>
                <a:gridCol w="1868805"/>
                <a:gridCol w="6499367"/>
                <a:gridCol w="2941813"/>
              </a:tblGrid>
              <a:tr h="64316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700"/>
                        <a:t>제목 </a:t>
                      </a:r>
                      <a:endParaRPr lang="en-US" altLang="ko-KR" sz="2700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marL="0" lvl="0" indent="0">
                        <a:buNone/>
                        <a:defRPr/>
                      </a:pPr>
                      <a:r>
                        <a:rPr lang="ko-KR" altLang="en-US" sz="2700"/>
                        <a:t>같은 관심사를 가진 사람들과 방송을 함께 보고 이야기 나누고 싶다.</a:t>
                      </a:r>
                      <a:endParaRPr lang="en-US" altLang="ko-KR" sz="2700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2700"/>
                        <a:t>우선순위</a:t>
                      </a:r>
                      <a:r>
                        <a:rPr lang="en-US" altLang="ko-KR" sz="2700"/>
                        <a:t>(</a:t>
                      </a:r>
                      <a:r>
                        <a:rPr lang="ko-KR" altLang="en-US" sz="2700"/>
                        <a:t>상</a:t>
                      </a:r>
                      <a:r>
                        <a:rPr lang="en-US" altLang="ko-KR" sz="2700"/>
                        <a:t>,</a:t>
                      </a:r>
                      <a:r>
                        <a:rPr lang="ko-KR" altLang="en-US" sz="2700"/>
                        <a:t> 중</a:t>
                      </a:r>
                      <a:r>
                        <a:rPr lang="en-US" altLang="ko-KR" sz="2700"/>
                        <a:t>,</a:t>
                      </a:r>
                      <a:r>
                        <a:rPr lang="ko-KR" altLang="en-US" sz="2700"/>
                        <a:t> 하</a:t>
                      </a:r>
                      <a:r>
                        <a:rPr lang="en-US" altLang="ko-KR" sz="2700"/>
                        <a:t>)</a:t>
                      </a:r>
                      <a:endParaRPr lang="en-US" altLang="ko-KR" sz="2700"/>
                    </a:p>
                  </a:txBody>
                  <a:tcPr marL="91440" marR="91440"/>
                </a:tc>
              </a:tr>
              <a:tr h="1592921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700"/>
                        <a:t>유저스토리</a:t>
                      </a:r>
                      <a:endParaRPr lang="ko-KR" altLang="en-US" sz="2700"/>
                    </a:p>
                    <a:p>
                      <a:pPr lvl="0" algn="ctr">
                        <a:defRPr/>
                      </a:pPr>
                      <a:r>
                        <a:rPr lang="en-US" altLang="ko-KR" sz="2700"/>
                        <a:t>(background)</a:t>
                      </a:r>
                      <a:endParaRPr lang="en-US" altLang="ko-KR" sz="2700"/>
                    </a:p>
                  </a:txBody>
                  <a:tcPr marL="91440" marR="91440" anchor="ctr"/>
                </a:tc>
                <a:tc gridSpan="2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 sz="2700"/>
                        <a:t>AS(</a:t>
                      </a:r>
                      <a:r>
                        <a:rPr lang="ko-KR" altLang="en-US" sz="2700"/>
                        <a:t>사용자</a:t>
                      </a:r>
                      <a:r>
                        <a:rPr lang="en-US" altLang="ko-KR" sz="2700"/>
                        <a:t>):</a:t>
                      </a:r>
                      <a:r>
                        <a:rPr lang="ko-KR" altLang="en-US" sz="2700"/>
                        <a:t> 박지현</a:t>
                      </a:r>
                      <a:endParaRPr lang="ko-KR" altLang="en-US" sz="2700"/>
                    </a:p>
                    <a:p>
                      <a:pPr marL="0" lvl="0" indent="0">
                        <a:buNone/>
                        <a:defRPr/>
                      </a:pPr>
                      <a:r>
                        <a:rPr lang="en-US" altLang="ko-KR" sz="2700"/>
                        <a:t>I</a:t>
                      </a:r>
                      <a:r>
                        <a:rPr lang="ko-KR" altLang="en-US" sz="2700"/>
                        <a:t> </a:t>
                      </a:r>
                      <a:r>
                        <a:rPr lang="en-US" altLang="ko-KR" sz="2700"/>
                        <a:t>Want(</a:t>
                      </a:r>
                      <a:r>
                        <a:rPr lang="ko-KR" altLang="en-US" sz="2700"/>
                        <a:t>행동</a:t>
                      </a:r>
                      <a:r>
                        <a:rPr lang="en-US" altLang="ko-KR" sz="2700"/>
                        <a:t>):</a:t>
                      </a:r>
                      <a:r>
                        <a:rPr lang="ko-KR" altLang="en-US" sz="2700"/>
                        <a:t> 같은 관심사를 가진 사람들과 방송을 함께 보고 이야기 나누고 싶다.</a:t>
                      </a:r>
                      <a:endParaRPr lang="en-US" altLang="ko-KR" sz="2700"/>
                    </a:p>
                    <a:p>
                      <a:pPr lvl="0">
                        <a:defRPr/>
                      </a:pPr>
                      <a:r>
                        <a:rPr lang="en-US" altLang="ko-KR" sz="2700"/>
                        <a:t>So that(</a:t>
                      </a:r>
                      <a:r>
                        <a:rPr lang="ko-KR" altLang="en-US" sz="2700"/>
                        <a:t>니즈</a:t>
                      </a:r>
                      <a:r>
                        <a:rPr lang="en-US" altLang="ko-KR" sz="2700"/>
                        <a:t>/</a:t>
                      </a:r>
                      <a:r>
                        <a:rPr lang="ko-KR" altLang="en-US" sz="2700"/>
                        <a:t>목적</a:t>
                      </a:r>
                      <a:r>
                        <a:rPr lang="en-US" altLang="ko-KR" sz="2700"/>
                        <a:t>):</a:t>
                      </a:r>
                      <a:r>
                        <a:rPr lang="ko-KR" altLang="en-US" sz="2700"/>
                        <a:t> 관심사 공유</a:t>
                      </a:r>
                      <a:r>
                        <a:rPr lang="en-US" altLang="ko-KR" sz="2700"/>
                        <a:t>,</a:t>
                      </a:r>
                      <a:r>
                        <a:rPr lang="ko-KR" altLang="en-US" sz="2700"/>
                        <a:t> 커뮤니티를 통한 정보공유</a:t>
                      </a:r>
                      <a:endParaRPr lang="ko-KR" altLang="en-US" sz="2700"/>
                    </a:p>
                  </a:txBody>
                  <a:tcPr marL="91440" marR="91440" anchor="ctr"/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en-US" altLang="ko-KR"/>
                    </a:p>
                  </a:txBody>
                  <a:tcPr marL="91440" marR="91440"/>
                </a:tc>
              </a:tr>
              <a:tr h="2076129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700"/>
                        <a:t>구현에 대한 기준</a:t>
                      </a:r>
                      <a:endParaRPr lang="ko-KR" altLang="en-US" sz="2700"/>
                    </a:p>
                    <a:p>
                      <a:pPr lvl="0" algn="ctr">
                        <a:defRPr/>
                      </a:pPr>
                      <a:r>
                        <a:rPr lang="en-US" altLang="ko-KR" sz="2700"/>
                        <a:t>(acceptance criteria)</a:t>
                      </a:r>
                      <a:endParaRPr lang="en-US" altLang="ko-KR" sz="2700"/>
                    </a:p>
                  </a:txBody>
                  <a:tcPr marL="91440" marR="91440" anchor="ctr"/>
                </a:tc>
                <a:tc gridSpan="2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marL="0" lvl="0" indent="0">
                        <a:buNone/>
                        <a:defRPr/>
                      </a:pPr>
                      <a:r>
                        <a:rPr lang="ko-KR" altLang="en-US" sz="2700"/>
                        <a:t>시나리오 4: 단골 자동 등록 및 알림 기능</a:t>
                      </a:r>
                      <a:endParaRPr lang="ko-KR" altLang="en-US" sz="2700"/>
                    </a:p>
                    <a:p>
                      <a:pPr marL="266700" lvl="0" indent="-306700">
                        <a:buFont typeface="Arial"/>
                        <a:buChar char="•"/>
                        <a:defRPr/>
                      </a:pPr>
                      <a:r>
                        <a:rPr lang="ko-KR" altLang="en-US" sz="2700"/>
                        <a:t>Given 박지현이 전문가 A의 방송을 3회 이상 시청했다면</a:t>
                      </a:r>
                      <a:endParaRPr lang="ko-KR" altLang="en-US" sz="2700"/>
                    </a:p>
                    <a:p>
                      <a:pPr marL="266700" lvl="0" indent="-306700">
                        <a:buFont typeface="Arial"/>
                        <a:buChar char="•"/>
                        <a:defRPr/>
                      </a:pPr>
                      <a:r>
                        <a:rPr lang="ko-KR" altLang="en-US" sz="2700"/>
                        <a:t>Then 시스템은 A를 단골로 자동 등록하고 이후 방송마다 알림을 보낸다</a:t>
                      </a:r>
                      <a:endParaRPr lang="ko-KR" altLang="en-US" sz="2700"/>
                    </a:p>
                  </a:txBody>
                  <a:tcPr marL="91440" marR="91440" anchor="ctr"/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en-US" altLang="ko-KR"/>
                    </a:p>
                  </a:txBody>
                  <a:tcPr marL="91440" marR="91440"/>
                </a:tc>
              </a:tr>
              <a:tr h="648721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2700"/>
                        <a:t>비고</a:t>
                      </a:r>
                      <a:endParaRPr lang="ko-KR" altLang="en-US" sz="2700"/>
                    </a:p>
                  </a:txBody>
                  <a:tcPr marL="91440" marR="91440" anchor="ctr"/>
                </a:tc>
                <a:tc gridSpan="2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 sz="2700"/>
                    </a:p>
                  </a:txBody>
                  <a:tcPr marL="91440" marR="91440" anchor="ctr"/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en-US" altLang="ko-KR"/>
                    </a:p>
                  </a:txBody>
                  <a:tcPr marL="91440" marR="91440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Gherkin 시나리오 (박지현 중심 설계)</a:t>
            </a:r>
            <a:endParaRPr lang="ko-KR" altLang="en-US"/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444500" y="1308100"/>
          <a:ext cx="11309985" cy="5447416"/>
        </p:xfrm>
        <a:graphic>
          <a:graphicData uri="http://schemas.openxmlformats.org/drawingml/2006/table">
            <a:tbl>
              <a:tblPr firstRow="1" bandRow="1">
                <a:tableStyle styleId="{01A66EDD-3DAB-4C5B-A090-DC80EC1FD486}" styleName="Normal Style 1 - Accent 1">
                  <a:wholeTbl>
                    <a:tcTxStyle>
                      <a:fontRef idx="minor">
                        <a:prstClr val="black"/>
                      </a:fontRef>
                      <a:schemeClr val="dk1"/>
                    </a:tcTxStyle>
                    <a:tcStyle>
                      <a:tcBdr>
                        <a:left>
                          <a:ln w="12700" cmpd="sng">
                            <a:solidFill>
                              <a:schemeClr val="lt1"/>
                            </a:solidFill>
                          </a:ln>
                        </a:left>
                        <a:right>
                          <a:ln w="12700" cmpd="sng">
                            <a:solidFill>
                              <a:schemeClr val="lt1"/>
                            </a:solidFill>
                          </a:ln>
                        </a:right>
                        <a:top>
                          <a:ln w="12700" cmpd="sng">
                            <a:solidFill>
                              <a:schemeClr val="lt1"/>
                            </a:solidFill>
                          </a:ln>
                        </a:top>
                        <a:bottom>
                          <a:ln w="12700" cmpd="sng">
                            <a:solidFill>
                              <a:schemeClr val="lt1"/>
                            </a:solidFill>
                          </a:ln>
                        </a:bottom>
                        <a:insideH>
                          <a:ln w="12700" cmpd="sng">
                            <a:solidFill>
                              <a:schemeClr val="lt1"/>
                            </a:solidFill>
                          </a:ln>
                        </a:insideH>
                        <a:insideV>
                          <a:ln w="12700" cmpd="sng">
                            <a:solidFill>
                              <a:schemeClr val="lt1"/>
                            </a:solidFill>
                          </a:ln>
                        </a:insideV>
                      </a:tcBdr>
                      <a:fill>
                        <a:solidFill>
                          <a:schemeClr val="accent1">
                            <a:lum val="90000"/>
                          </a:schemeClr>
                        </a:solidFill>
                      </a:fill>
                    </a:tcStyle>
                  </a:wholeTbl>
                  <a:band1H>
                    <a:tcTxStyle/>
                    <a:tcStyle>
                      <a:tcBdr/>
                      <a:fill>
                        <a:solidFill>
                          <a:schemeClr val="accent1">
                            <a:lum val="80000"/>
                          </a:schemeClr>
                        </a:solidFill>
                      </a:fill>
                    </a:tcStyle>
                  </a:band1H>
                  <a:band2H>
                    <a:tcTxStyle/>
                    <a:tcStyle>
                      <a:tcBdr/>
                    </a:tcStyle>
                  </a:band2H>
                  <a:band1V>
                    <a:tcTxStyle/>
                    <a:tcStyle>
                      <a:tcBdr/>
                      <a:fill>
                        <a:solidFill>
                          <a:schemeClr val="accent1">
                            <a:lum val="80000"/>
                          </a:schemeClr>
                        </a:solidFill>
                      </a:fill>
                    </a:tcStyle>
                  </a:band1V>
                  <a:band2V>
                    <a:tcTxStyle/>
                    <a:tcStyle>
                      <a:tcBdr/>
                    </a:tcStyle>
                  </a:band2V>
                  <a:lastCol>
                    <a:tcTxStyle b="on">
                      <a:fontRef idx="minor">
                        <a:prstClr val="black"/>
                      </a:fontRef>
                      <a:schemeClr val="lt1"/>
                    </a:tcTxStyle>
                    <a:tcStyle>
                      <a:tcBdr/>
                      <a:fill>
                        <a:solidFill>
                          <a:schemeClr val="accent1"/>
                        </a:solidFill>
                      </a:fill>
                    </a:tcStyle>
                  </a:lastCol>
                  <a:firstCol>
                    <a:tcTxStyle b="on">
                      <a:fontRef idx="minor">
                        <a:prstClr val="black"/>
                      </a:fontRef>
                      <a:schemeClr val="lt1"/>
                    </a:tcTxStyle>
                    <a:tcStyle>
                      <a:tcBdr/>
                      <a:fill>
                        <a:solidFill>
                          <a:schemeClr val="accent1"/>
                        </a:solidFill>
                      </a:fill>
                    </a:tcStyle>
                  </a:firstCol>
                  <a:lastRow>
                    <a:tcTxStyle b="on">
                      <a:fontRef idx="minor">
                        <a:prstClr val="black"/>
                      </a:fontRef>
                      <a:schemeClr val="lt1"/>
                    </a:tcTxStyle>
                    <a:tcStyle>
                      <a:tcBdr>
                        <a:top>
                          <a:ln w="38100" cmpd="sng">
                            <a:solidFill>
                              <a:schemeClr val="lt1"/>
                            </a:solidFill>
                          </a:ln>
                        </a:top>
                      </a:tcBdr>
                      <a:fill>
                        <a:solidFill>
                          <a:schemeClr val="accent1"/>
                        </a:solidFill>
                      </a:fill>
                    </a:tcStyle>
                  </a:lastRow>
                  <a:firstRow>
                    <a:tcTxStyle b="on">
                      <a:fontRef idx="minor">
                        <a:prstClr val="black"/>
                      </a:fontRef>
                      <a:schemeClr val="lt1"/>
                    </a:tcTxStyle>
                    <a:tcStyle>
                      <a:tcBdr>
                        <a:bottom>
                          <a:ln w="38100" cmpd="sng">
                            <a:solidFill>
                              <a:schemeClr val="lt1"/>
                            </a:solidFill>
                          </a:ln>
                        </a:bottom>
                      </a:tcBdr>
                      <a:fill>
                        <a:solidFill>
                          <a:schemeClr val="accent1"/>
                        </a:solidFill>
                      </a:fill>
                    </a:tcStyle>
                  </a:firstRow>
                </a:tableStyle>
              </a:tblPr>
              <a:tblGrid>
                <a:gridCol w="1868805"/>
                <a:gridCol w="6499367"/>
                <a:gridCol w="2941813"/>
              </a:tblGrid>
              <a:tr h="64316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700"/>
                        <a:t>제목 </a:t>
                      </a:r>
                      <a:endParaRPr lang="en-US" altLang="ko-KR" sz="2700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marL="0" lvl="0" indent="0">
                        <a:buNone/>
                        <a:defRPr/>
                      </a:pPr>
                      <a:r>
                        <a:rPr lang="ko-KR" altLang="en-US" sz="2700"/>
                        <a:t>오류나 피드백을 주면 빠르게 반응하고 개선되는 경험을 원한다.</a:t>
                      </a:r>
                      <a:endParaRPr lang="en-US" altLang="ko-KR" sz="2700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2700"/>
                        <a:t>우선순위</a:t>
                      </a:r>
                      <a:r>
                        <a:rPr lang="en-US" altLang="ko-KR" sz="2700"/>
                        <a:t>(</a:t>
                      </a:r>
                      <a:r>
                        <a:rPr lang="ko-KR" altLang="en-US" sz="2700"/>
                        <a:t>상</a:t>
                      </a:r>
                      <a:r>
                        <a:rPr lang="en-US" altLang="ko-KR" sz="2700"/>
                        <a:t>,</a:t>
                      </a:r>
                      <a:r>
                        <a:rPr lang="ko-KR" altLang="en-US" sz="2700"/>
                        <a:t> 중</a:t>
                      </a:r>
                      <a:r>
                        <a:rPr lang="en-US" altLang="ko-KR" sz="2700"/>
                        <a:t>,</a:t>
                      </a:r>
                      <a:r>
                        <a:rPr lang="ko-KR" altLang="en-US" sz="2700"/>
                        <a:t> 하</a:t>
                      </a:r>
                      <a:r>
                        <a:rPr lang="en-US" altLang="ko-KR" sz="2700"/>
                        <a:t>)</a:t>
                      </a:r>
                      <a:endParaRPr lang="en-US" altLang="ko-KR" sz="2700"/>
                    </a:p>
                  </a:txBody>
                  <a:tcPr marL="91440" marR="91440"/>
                </a:tc>
              </a:tr>
              <a:tr h="1592921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700"/>
                        <a:t>유저스토리</a:t>
                      </a:r>
                      <a:endParaRPr lang="ko-KR" altLang="en-US" sz="2700"/>
                    </a:p>
                    <a:p>
                      <a:pPr lvl="0" algn="ctr">
                        <a:defRPr/>
                      </a:pPr>
                      <a:r>
                        <a:rPr lang="en-US" altLang="ko-KR" sz="2700"/>
                        <a:t>(background)</a:t>
                      </a:r>
                      <a:endParaRPr lang="en-US" altLang="ko-KR" sz="2700"/>
                    </a:p>
                  </a:txBody>
                  <a:tcPr marL="91440" marR="91440" anchor="ctr"/>
                </a:tc>
                <a:tc gridSpan="2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 sz="2700"/>
                        <a:t>AS(</a:t>
                      </a:r>
                      <a:r>
                        <a:rPr lang="ko-KR" altLang="en-US" sz="2700"/>
                        <a:t>사용자</a:t>
                      </a:r>
                      <a:r>
                        <a:rPr lang="en-US" altLang="ko-KR" sz="2700"/>
                        <a:t>):</a:t>
                      </a:r>
                      <a:r>
                        <a:rPr lang="ko-KR" altLang="en-US" sz="2700"/>
                        <a:t> 박지현</a:t>
                      </a:r>
                      <a:endParaRPr lang="ko-KR" altLang="en-US" sz="2700"/>
                    </a:p>
                    <a:p>
                      <a:pPr marL="0" lvl="0" indent="0">
                        <a:buNone/>
                        <a:defRPr/>
                      </a:pPr>
                      <a:r>
                        <a:rPr lang="en-US" altLang="ko-KR" sz="2700"/>
                        <a:t>I</a:t>
                      </a:r>
                      <a:r>
                        <a:rPr lang="ko-KR" altLang="en-US" sz="2700"/>
                        <a:t> </a:t>
                      </a:r>
                      <a:r>
                        <a:rPr lang="en-US" altLang="ko-KR" sz="2700"/>
                        <a:t>Want(</a:t>
                      </a:r>
                      <a:r>
                        <a:rPr lang="ko-KR" altLang="en-US" sz="2700"/>
                        <a:t>행동</a:t>
                      </a:r>
                      <a:r>
                        <a:rPr lang="en-US" altLang="ko-KR" sz="2700"/>
                        <a:t>):</a:t>
                      </a:r>
                      <a:r>
                        <a:rPr lang="ko-KR" altLang="en-US" sz="2700"/>
                        <a:t> 오류나 피드백을 주면 빠르게 반응하고 개선되는 경험을 원한다.</a:t>
                      </a:r>
                      <a:endParaRPr lang="en-US" altLang="ko-KR" sz="2700"/>
                    </a:p>
                    <a:p>
                      <a:pPr lvl="0">
                        <a:defRPr/>
                      </a:pPr>
                      <a:r>
                        <a:rPr lang="en-US" altLang="ko-KR" sz="2700"/>
                        <a:t>So that(</a:t>
                      </a:r>
                      <a:r>
                        <a:rPr lang="ko-KR" altLang="en-US" sz="2700"/>
                        <a:t>니즈</a:t>
                      </a:r>
                      <a:r>
                        <a:rPr lang="en-US" altLang="ko-KR" sz="2700"/>
                        <a:t>/</a:t>
                      </a:r>
                      <a:r>
                        <a:rPr lang="ko-KR" altLang="en-US" sz="2700"/>
                        <a:t>목적</a:t>
                      </a:r>
                      <a:r>
                        <a:rPr lang="en-US" altLang="ko-KR" sz="2700"/>
                        <a:t>):</a:t>
                      </a:r>
                      <a:r>
                        <a:rPr lang="ko-KR" altLang="en-US" sz="2700"/>
                        <a:t> 불편 사항과 오류 없는 쾌적한 사용 경험</a:t>
                      </a:r>
                      <a:endParaRPr lang="ko-KR" altLang="en-US" sz="2700"/>
                    </a:p>
                  </a:txBody>
                  <a:tcPr marL="91440" marR="91440" anchor="ctr"/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en-US" altLang="ko-KR"/>
                    </a:p>
                  </a:txBody>
                  <a:tcPr marL="91440" marR="91440"/>
                </a:tc>
              </a:tr>
              <a:tr h="2076129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700"/>
                        <a:t>구현에 대한 기준</a:t>
                      </a:r>
                      <a:endParaRPr lang="ko-KR" altLang="en-US" sz="2700"/>
                    </a:p>
                    <a:p>
                      <a:pPr lvl="0" algn="ctr">
                        <a:defRPr/>
                      </a:pPr>
                      <a:r>
                        <a:rPr lang="en-US" altLang="ko-KR" sz="2700"/>
                        <a:t>(acceptance criteria)</a:t>
                      </a:r>
                      <a:endParaRPr lang="en-US" altLang="ko-KR" sz="2700"/>
                    </a:p>
                  </a:txBody>
                  <a:tcPr marL="91440" marR="91440" anchor="ctr"/>
                </a:tc>
                <a:tc gridSpan="2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marL="0" lvl="0" indent="0">
                        <a:buNone/>
                        <a:defRPr/>
                      </a:pPr>
                      <a:r>
                        <a:rPr lang="ko-KR" altLang="en-US" sz="2700"/>
                        <a:t>시나리오 5: 피드백 반영 경험</a:t>
                      </a:r>
                      <a:endParaRPr lang="ko-KR" altLang="en-US" sz="2700"/>
                    </a:p>
                    <a:p>
                      <a:pPr marL="266700" lvl="0" indent="-306700">
                        <a:buFont typeface="Arial"/>
                        <a:buChar char="•"/>
                        <a:defRPr/>
                      </a:pPr>
                      <a:r>
                        <a:rPr lang="ko-KR" altLang="en-US" sz="2700"/>
                        <a:t>Given 박지현이 앱 내 '피드백 보내기'를 통해 기능 오류를 신고하면</a:t>
                      </a:r>
                      <a:endParaRPr lang="ko-KR" altLang="en-US" sz="2700"/>
                    </a:p>
                    <a:p>
                      <a:pPr marL="266700" lvl="0" indent="-306700">
                        <a:buFont typeface="Arial"/>
                        <a:buChar char="•"/>
                        <a:defRPr/>
                      </a:pPr>
                      <a:r>
                        <a:rPr lang="ko-KR" altLang="en-US" sz="2700"/>
                        <a:t>Then 24시간 이내에 접수 알림과 함께 처리 상태가 알림으로 제공된다</a:t>
                      </a:r>
                      <a:endParaRPr lang="ko-KR" altLang="en-US" sz="2700"/>
                    </a:p>
                  </a:txBody>
                  <a:tcPr marL="91440" marR="91440" anchor="ctr"/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en-US" altLang="ko-KR"/>
                    </a:p>
                  </a:txBody>
                  <a:tcPr marL="91440" marR="91440"/>
                </a:tc>
              </a:tr>
              <a:tr h="648721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2700"/>
                        <a:t>비고</a:t>
                      </a:r>
                      <a:endParaRPr lang="ko-KR" altLang="en-US" sz="2700"/>
                    </a:p>
                  </a:txBody>
                  <a:tcPr marL="91440" marR="91440" anchor="ctr"/>
                </a:tc>
                <a:tc gridSpan="2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endParaRPr lang="ko-KR" altLang="en-US" sz="2700"/>
                    </a:p>
                  </a:txBody>
                  <a:tcPr marL="91440" marR="91440" anchor="ctr"/>
                </a:tc>
                <a:tc hMerge="1"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endParaRPr lang="en-US" altLang="ko-KR"/>
                    </a:p>
                  </a:txBody>
                  <a:tcPr marL="91440" marR="91440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기능 정의 (박지현 니즈 기반)</a:t>
            </a:r>
            <a:endParaRPr lang="ko-KR" altLang="en-US"/>
          </a:p>
        </p:txBody>
      </p:sp>
      <p:graphicFrame>
        <p:nvGraphicFramePr>
          <p:cNvPr id="3" name=""/>
          <p:cNvGraphicFramePr>
            <a:graphicFrameLocks noGrp="1"/>
          </p:cNvGraphicFramePr>
          <p:nvPr>
            <p:ph idx="1"/>
          </p:nvPr>
        </p:nvGraphicFramePr>
        <p:xfrm>
          <a:off x="609600" y="1600200"/>
          <a:ext cx="10977304" cy="4656743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3261617"/>
                <a:gridCol w="6343307"/>
                <a:gridCol w="1372380"/>
              </a:tblGrid>
              <a:tr h="665249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600"/>
                        <a:t>기능</a:t>
                      </a:r>
                      <a:endParaRPr lang="ko-KR" altLang="en-US" sz="2600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600"/>
                        <a:t>설명</a:t>
                      </a:r>
                      <a:endParaRPr lang="ko-KR" altLang="en-US" sz="2600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2600"/>
                        <a:t>우선순위</a:t>
                      </a:r>
                      <a:endParaRPr lang="ko-KR" altLang="en-US" sz="2600"/>
                    </a:p>
                  </a:txBody>
                  <a:tcPr marL="91440" marR="91440" anchor="ctr"/>
                </a:tc>
              </a:tr>
              <a:tr h="665249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2000"/>
                        <a:t>자산 통합 대시보드</a:t>
                      </a:r>
                      <a:endParaRPr lang="ko-KR" altLang="en-US" sz="2000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2000"/>
                        <a:t>다양한 금융사의 자산 데이터를 한 화면에 시각적으로 제공</a:t>
                      </a:r>
                      <a:endParaRPr lang="ko-KR" altLang="en-US" sz="2000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2000"/>
                        <a:t>매우 높음</a:t>
                      </a:r>
                      <a:endParaRPr lang="ko-KR" altLang="en-US" sz="2000"/>
                    </a:p>
                  </a:txBody>
                  <a:tcPr marL="91440" marR="91440" anchor="ctr"/>
                </a:tc>
              </a:tr>
              <a:tr h="665249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2000"/>
                        <a:t>영상 기반 콘텐츠 제공</a:t>
                      </a:r>
                      <a:endParaRPr lang="ko-KR" altLang="en-US" sz="2000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2000"/>
                        <a:t>짧고 쉬운 설명의 금융 정보 영상 및 전문가 라이브 방송</a:t>
                      </a:r>
                      <a:endParaRPr lang="ko-KR" altLang="en-US" sz="2000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2000"/>
                        <a:t>매우 높음</a:t>
                      </a:r>
                      <a:endParaRPr lang="ko-KR" altLang="en-US" sz="2000"/>
                    </a:p>
                  </a:txBody>
                  <a:tcPr marL="91440" marR="91440" anchor="ctr"/>
                </a:tc>
              </a:tr>
              <a:tr h="665249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2000"/>
                        <a:t>실시간 채팅 및 Q&amp;A</a:t>
                      </a:r>
                      <a:endParaRPr lang="ko-KR" altLang="en-US" sz="2000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2000"/>
                        <a:t>방송 중 실시간 질문과 전문가 응답, 유저 반응 이모지 포함</a:t>
                      </a:r>
                      <a:endParaRPr lang="ko-KR" altLang="en-US" sz="2000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2000"/>
                        <a:t>매우 높음</a:t>
                      </a:r>
                      <a:endParaRPr lang="ko-KR" altLang="en-US" sz="2000"/>
                    </a:p>
                  </a:txBody>
                  <a:tcPr marL="91440" marR="91440" anchor="ctr"/>
                </a:tc>
              </a:tr>
              <a:tr h="665249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2000"/>
                        <a:t>단골 전문가 등록 및 알림</a:t>
                      </a:r>
                      <a:endParaRPr lang="ko-KR" altLang="en-US" sz="2000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2000"/>
                        <a:t>일정 기준 충족 시 자동 등록 또는 수동 설정, 방송 전 알림</a:t>
                      </a:r>
                      <a:endParaRPr lang="ko-KR" altLang="en-US" sz="2000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2000"/>
                        <a:t>높음</a:t>
                      </a:r>
                      <a:endParaRPr lang="ko-KR" altLang="en-US" sz="2000"/>
                    </a:p>
                  </a:txBody>
                  <a:tcPr marL="91440" marR="91440" anchor="ctr"/>
                </a:tc>
              </a:tr>
              <a:tr h="665249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2000"/>
                        <a:t>사용자 피드백 접수 및 트래킹</a:t>
                      </a:r>
                      <a:endParaRPr lang="ko-KR" altLang="en-US" sz="2000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2000"/>
                        <a:t>피드백 등록 → 상태 확인 → 해결 결과 공유</a:t>
                      </a:r>
                      <a:endParaRPr lang="ko-KR" altLang="en-US" sz="2000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2000"/>
                        <a:t>높음</a:t>
                      </a:r>
                      <a:endParaRPr lang="ko-KR" altLang="en-US" sz="2000"/>
                    </a:p>
                  </a:txBody>
                  <a:tcPr marL="91440" marR="91440" anchor="ctr"/>
                </a:tc>
              </a:tr>
              <a:tr h="665249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2000"/>
                        <a:t>개인화 콘텐츠 추천</a:t>
                      </a:r>
                      <a:endParaRPr lang="ko-KR" altLang="en-US" sz="2000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2000"/>
                        <a:t>시청 이력과 관심사를 기반으로 영상 및 전문가 추천</a:t>
                      </a:r>
                      <a:endParaRPr lang="ko-KR" altLang="en-US" sz="2000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 sz="2000"/>
                        <a:t>높음</a:t>
                      </a:r>
                      <a:endParaRPr lang="ko-KR" altLang="en-US" sz="2000"/>
                    </a:p>
                  </a:txBody>
                  <a:tcPr marL="91440" marR="9144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API 설계 예시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sz="4900"/>
              <a:t>/assets/summary</a:t>
            </a:r>
            <a:endParaRPr lang="ko-KR" altLang="en-US" sz="4900"/>
          </a:p>
          <a:p>
            <a:pPr lvl="0">
              <a:defRPr/>
            </a:pPr>
            <a:r>
              <a:rPr lang="ko-KR" altLang="en-US" sz="4900"/>
              <a:t>/videos/recommend</a:t>
            </a:r>
            <a:endParaRPr lang="ko-KR" altLang="en-US" sz="4900"/>
          </a:p>
          <a:p>
            <a:pPr lvl="0">
              <a:defRPr/>
            </a:pPr>
            <a:r>
              <a:rPr lang="ko-KR" altLang="en-US" sz="4900"/>
              <a:t>/experts/follow</a:t>
            </a:r>
            <a:endParaRPr lang="ko-KR" altLang="en-US" sz="4900"/>
          </a:p>
          <a:p>
            <a:pPr lvl="0">
              <a:defRPr/>
            </a:pPr>
            <a:r>
              <a:rPr lang="ko-KR" altLang="en-US" sz="4900"/>
              <a:t>/feedback</a:t>
            </a:r>
            <a:endParaRPr lang="ko-KR" altLang="en-US" sz="4900"/>
          </a:p>
          <a:p>
            <a:pPr marL="0" lvl="0" indent="0">
              <a:buNone/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전략 요약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sz="4300"/>
              <a:t> 신뢰/이해/재미 중심 설계</a:t>
            </a:r>
            <a:endParaRPr lang="ko-KR" altLang="en-US" sz="4300"/>
          </a:p>
          <a:p>
            <a:pPr lvl="0">
              <a:defRPr/>
            </a:pPr>
            <a:r>
              <a:rPr lang="ko-KR" altLang="en-US" sz="4300"/>
              <a:t> 실시간/몰입형 콘텐츠</a:t>
            </a:r>
            <a:endParaRPr lang="ko-KR" altLang="en-US" sz="4300"/>
          </a:p>
          <a:p>
            <a:pPr lvl="0">
              <a:defRPr/>
            </a:pPr>
            <a:r>
              <a:rPr lang="ko-KR" altLang="en-US" sz="4300"/>
              <a:t> 커뮤니티 기반 유지</a:t>
            </a:r>
            <a:endParaRPr lang="ko-KR" altLang="en-US" sz="4300"/>
          </a:p>
          <a:p>
            <a:pPr lvl="0">
              <a:defRPr/>
            </a:pPr>
            <a:r>
              <a:rPr lang="ko-KR" altLang="en-US" sz="4300"/>
              <a:t> 데이터 기반 추천 &amp; 빠른 피드백</a:t>
            </a:r>
            <a:endParaRPr lang="ko-KR" altLang="en-US" sz="4300"/>
          </a:p>
        </p:txBody>
      </p:sp>
    </p:spTree>
  </p:cSld>
  <p:clrMapOvr>
    <a:masterClrMapping/>
  </p:clrMapOvr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사용자 여정 지도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9886205"/>
      </p:ext>
    </p:extLst>
  </p:cSld>
  <p:clrMapOvr>
    <a:masterClrMapping/>
  </p:clrMapOvr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사용자 여정 지도란</a:t>
            </a:r>
            <a:r>
              <a:rPr lang="en-US" altLang="ko-KR"/>
              <a:t>?</a:t>
            </a:r>
            <a:endParaRPr lang="en-US" altLang="ko-KR"/>
          </a:p>
        </p:txBody>
      </p:sp>
      <p:sp>
        <p:nvSpPr>
          <p:cNvPr id="3" name=""/>
          <p:cNvSpPr>
            <a:spLocks noGrp="1"/>
          </p:cNvSpPr>
          <p:nvPr>
            <p:ph idx="1"/>
          </p:nvPr>
        </p:nvSpPr>
        <p:spPr/>
        <p:txBody>
          <a:bodyPr/>
          <a:p>
            <a:pPr lvl="0">
              <a:defRPr/>
            </a:pPr>
            <a:r>
              <a:rPr lang="ko-KR" altLang="en-US" sz="2900"/>
              <a:t>서비스 개발시 피처 단위의 디테일한 작업에 집중시 전체적인 그림을 놓치는 문제 발생</a:t>
            </a:r>
            <a:endParaRPr lang="ko-KR" altLang="en-US" sz="2900"/>
          </a:p>
          <a:p>
            <a:pPr lvl="0">
              <a:defRPr/>
            </a:pPr>
            <a:r>
              <a:rPr lang="ko-KR" altLang="en-US" sz="2900"/>
              <a:t>사용자들이 제품이나 서비스를 처음 접하는 시점부터 사용을 끝내는 시점까지의 여정을 시각적으로 보여주어 전체적인 그림을 놓치지 않도록 해줌</a:t>
            </a:r>
            <a:endParaRPr lang="ko-KR" altLang="en-US" sz="2900"/>
          </a:p>
        </p:txBody>
      </p:sp>
    </p:spTree>
    <p:extLst>
      <p:ext uri="{BB962C8B-B14F-4D97-AF65-F5344CB8AC3E}">
        <p14:creationId xmlns:p14="http://schemas.microsoft.com/office/powerpoint/2010/main" val="3023838586"/>
      </p:ext>
    </p:extLst>
  </p:cSld>
  <p:clrMapOvr>
    <a:masterClrMapping/>
  </p:clrMapOvr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사용자 여정 지도</a:t>
            </a:r>
            <a:endParaRPr lang="ko-KR" altLang="en-US"/>
          </a:p>
        </p:txBody>
      </p:sp>
      <p:graphicFrame>
        <p:nvGraphicFramePr>
          <p:cNvPr id="4" name="표 3"/>
          <p:cNvGraphicFramePr/>
          <p:nvPr/>
        </p:nvGraphicFramePr>
        <p:xfrm>
          <a:off x="457200" y="1371600"/>
          <a:ext cx="11283037" cy="48424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8469"/>
                <a:gridCol w="2436141"/>
                <a:gridCol w="2436141"/>
                <a:gridCol w="2436141"/>
                <a:gridCol w="2436141"/>
              </a:tblGrid>
              <a:tr h="747260">
                <a:tc>
                  <a:txBody>
                    <a:bodyPr vert="horz" lIns="91440" tIns="45720" rIns="91440" bIns="45720" anchor="ctr" anchorCtr="0"/>
                    <a:lstStyle/>
                    <a:p>
                      <a:pPr lvl="0" algn="ctr">
                        <a:defRPr/>
                      </a:pPr>
                      <a:endParaRPr lang="ko-KR" altLang="en-US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 algn="ctr">
                        <a:defRPr/>
                      </a:pPr>
                      <a:r>
                        <a:rPr sz="2300" b="1">
                          <a:latin typeface="맑은 고딕"/>
                          <a:ea typeface="맑은 고딕"/>
                        </a:rPr>
                        <a:t>1단계: 인지</a:t>
                      </a:r>
                      <a:endParaRPr sz="2300" b="1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 algn="ctr">
                        <a:defRPr/>
                      </a:pPr>
                      <a:r>
                        <a:rPr sz="2300" b="1">
                          <a:latin typeface="맑은 고딕"/>
                          <a:ea typeface="맑은 고딕"/>
                        </a:rPr>
                        <a:t>2단계: 탐색</a:t>
                      </a:r>
                      <a:endParaRPr sz="2300" b="1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 algn="ctr">
                        <a:defRPr/>
                      </a:pPr>
                      <a:r>
                        <a:rPr sz="2300" b="1">
                          <a:latin typeface="맑은 고딕"/>
                          <a:ea typeface="맑은 고딕"/>
                        </a:rPr>
                        <a:t>3단계: 사용</a:t>
                      </a:r>
                      <a:endParaRPr sz="2300" b="1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 algn="ctr">
                        <a:defRPr/>
                      </a:pPr>
                      <a:r>
                        <a:rPr sz="2300" b="1">
                          <a:latin typeface="맑은 고딕"/>
                          <a:ea typeface="맑은 고딕"/>
                        </a:rPr>
                        <a:t>4단계: 유지/심화</a:t>
                      </a:r>
                      <a:endParaRPr sz="2300" b="1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</a:tr>
              <a:tr h="1120890">
                <a:tc>
                  <a:txBody>
                    <a:bodyPr vert="horz" lIns="91440" tIns="45720" rIns="91440" bIns="45720" anchor="ctr" anchorCtr="0"/>
                    <a:lstStyle/>
                    <a:p>
                      <a:pPr lvl="0" algn="ctr">
                        <a:defRPr/>
                      </a:pPr>
                      <a:r>
                        <a:rPr sz="2000" b="1">
                          <a:latin typeface="맑은 고딕"/>
                          <a:ea typeface="맑은 고딕"/>
                        </a:rPr>
                        <a:t>유저스토리</a:t>
                      </a:r>
                      <a:endParaRPr sz="2000" b="1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 algn="ctr">
                        <a:defRPr/>
                      </a:pPr>
                      <a:r>
                        <a:rPr lang="ko-KR" altLang="en-US" sz="2000">
                          <a:latin typeface="맑은 고딕"/>
                          <a:ea typeface="맑은 고딕"/>
                        </a:rPr>
                        <a:t>푸시나 SNS로 새로운 핀테크 서비스를 접한다.</a:t>
                      </a:r>
                      <a:endParaRPr lang="ko-KR" altLang="en-US" sz="2000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 algn="ctr">
                        <a:defRPr/>
                      </a:pPr>
                      <a:r>
                        <a:rPr lang="ko-KR" altLang="en-US" sz="2000">
                          <a:latin typeface="맑은 고딕"/>
                          <a:ea typeface="맑은 고딕"/>
                        </a:rPr>
                        <a:t>신뢰할 수 있는 전문가의 콘텐츠를 확인하고 팔로우한다.</a:t>
                      </a:r>
                      <a:endParaRPr lang="ko-KR" altLang="en-US" sz="2000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 algn="ctr">
                        <a:defRPr/>
                      </a:pPr>
                      <a:r>
                        <a:rPr lang="ko-KR" altLang="en-US" sz="2000">
                          <a:latin typeface="맑은 고딕"/>
                          <a:ea typeface="맑은 고딕"/>
                        </a:rPr>
                        <a:t>자산을 통합해서 확인하고, 실시간으로 궁금한 점을 질문한다.</a:t>
                      </a:r>
                      <a:endParaRPr lang="ko-KR" altLang="en-US" sz="2000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 algn="ctr">
                        <a:defRPr/>
                      </a:pPr>
                      <a:r>
                        <a:rPr lang="ko-KR" altLang="en-US" sz="2000">
                          <a:latin typeface="맑은 고딕"/>
                          <a:ea typeface="맑은 고딕"/>
                        </a:rPr>
                        <a:t>단골 전문가 콘텐츠를 지속적으로 보고, 피드백을 보내 개선을 경험한다.</a:t>
                      </a:r>
                      <a:endParaRPr lang="ko-KR" altLang="en-US" sz="2000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</a:tr>
              <a:tr h="484879">
                <a:tc>
                  <a:txBody>
                    <a:bodyPr vert="horz" lIns="91440" tIns="45720" rIns="91440" bIns="45720" anchor="ctr" anchorCtr="0"/>
                    <a:lstStyle/>
                    <a:p>
                      <a:pPr lvl="0" algn="ctr">
                        <a:defRPr/>
                      </a:pPr>
                      <a:r>
                        <a:rPr sz="2000" b="1">
                          <a:latin typeface="맑은 고딕"/>
                          <a:ea typeface="맑은 고딕"/>
                        </a:rPr>
                        <a:t>Emotions</a:t>
                      </a:r>
                      <a:endParaRPr sz="2000" b="1">
                        <a:latin typeface="맑은 고딕"/>
                        <a:ea typeface="맑은 고딕"/>
                      </a:endParaRPr>
                    </a:p>
                    <a:p>
                      <a:pPr lvl="0" algn="ctr">
                        <a:defRPr/>
                      </a:pPr>
                      <a:r>
                        <a:rPr sz="2000" b="1">
                          <a:latin typeface="맑은 고딕"/>
                          <a:ea typeface="맑은 고딕"/>
                        </a:rPr>
                        <a:t>(만족도)</a:t>
                      </a:r>
                      <a:endParaRPr sz="2000" b="1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 algn="ctr">
                        <a:defRPr/>
                      </a:pPr>
                      <a:r>
                        <a:rPr lang="ko-KR" altLang="en-US" sz="2000">
                          <a:latin typeface="맑은 고딕"/>
                          <a:ea typeface="맑은 고딕"/>
                        </a:rPr>
                        <a:t>기대감</a:t>
                      </a:r>
                      <a:endParaRPr lang="ko-KR" altLang="en-US" sz="2000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 algn="ctr">
                        <a:defRPr/>
                      </a:pPr>
                      <a:r>
                        <a:rPr lang="ko-KR" altLang="en-US" sz="2000">
                          <a:latin typeface="맑은 고딕"/>
                          <a:ea typeface="맑은 고딕"/>
                        </a:rPr>
                        <a:t>신뢰</a:t>
                      </a:r>
                      <a:endParaRPr lang="ko-KR" altLang="en-US" sz="2000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 algn="ctr">
                        <a:defRPr/>
                      </a:pPr>
                      <a:r>
                        <a:rPr lang="ko-KR" altLang="en-US" sz="2000">
                          <a:latin typeface="맑은 고딕"/>
                          <a:ea typeface="맑은 고딕"/>
                        </a:rPr>
                        <a:t>이해 + 참여 + 재미</a:t>
                      </a:r>
                      <a:endParaRPr lang="ko-KR" altLang="en-US" sz="2000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 algn="ctr">
                        <a:defRPr/>
                      </a:pPr>
                      <a:r>
                        <a:rPr lang="ko-KR" altLang="en-US" sz="2000">
                          <a:latin typeface="맑은 고딕"/>
                          <a:ea typeface="맑은 고딕"/>
                        </a:rPr>
                        <a:t>소속감 + 만족감</a:t>
                      </a:r>
                      <a:endParaRPr lang="ko-KR" altLang="en-US" sz="2000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</a:tr>
              <a:tr h="583884">
                <a:tc>
                  <a:txBody>
                    <a:bodyPr vert="horz" lIns="91440" tIns="45720" rIns="91440" bIns="45720" anchor="ctr" anchorCtr="0"/>
                    <a:lstStyle/>
                    <a:p>
                      <a:pPr lvl="0" algn="ctr">
                        <a:defRPr/>
                      </a:pPr>
                      <a:r>
                        <a:rPr sz="2000" b="1">
                          <a:latin typeface="맑은 고딕"/>
                          <a:ea typeface="맑은 고딕"/>
                        </a:rPr>
                        <a:t>니즈 &amp; 불편한 점</a:t>
                      </a:r>
                      <a:endParaRPr sz="2000" b="1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 algn="ctr">
                        <a:defRPr/>
                      </a:pPr>
                      <a:r>
                        <a:rPr lang="ko-KR" altLang="en-US" sz="2000">
                          <a:latin typeface="맑은 고딕"/>
                          <a:ea typeface="맑은 고딕"/>
                        </a:rPr>
                        <a:t>광고성 정보인지 구분 어려움</a:t>
                      </a:r>
                      <a:endParaRPr lang="ko-KR" altLang="en-US" sz="2000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 algn="ctr">
                        <a:defRPr/>
                      </a:pPr>
                      <a:r>
                        <a:rPr lang="ko-KR" altLang="en-US" sz="2000">
                          <a:latin typeface="맑은 고딕"/>
                          <a:ea typeface="맑은 고딕"/>
                        </a:rPr>
                        <a:t>신뢰할 수 있는 콘텐츠 찾기 어려움</a:t>
                      </a:r>
                      <a:endParaRPr lang="ko-KR" altLang="en-US" sz="2000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 algn="ctr">
                        <a:defRPr/>
                      </a:pPr>
                      <a:r>
                        <a:rPr lang="ko-KR" altLang="en-US" sz="2000">
                          <a:latin typeface="맑은 고딕"/>
                          <a:ea typeface="맑은 고딕"/>
                        </a:rPr>
                        <a:t>금융 용어 어려움, 정보 단편화</a:t>
                      </a:r>
                      <a:endParaRPr lang="ko-KR" altLang="en-US" sz="2000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 algn="ctr">
                        <a:defRPr/>
                      </a:pPr>
                      <a:r>
                        <a:rPr lang="ko-KR" altLang="en-US" sz="2000">
                          <a:latin typeface="맑은 고딕"/>
                          <a:ea typeface="맑은 고딕"/>
                        </a:rPr>
                        <a:t>내 의견이 반영되는 경험 부족</a:t>
                      </a:r>
                      <a:endParaRPr lang="ko-KR" altLang="en-US" sz="2000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</a:tr>
              <a:tr h="1077646">
                <a:tc>
                  <a:txBody>
                    <a:bodyPr vert="horz" lIns="91440" tIns="45720" rIns="91440" bIns="45720" anchor="ctr" anchorCtr="0"/>
                    <a:lstStyle/>
                    <a:p>
                      <a:pPr lvl="0" algn="ctr">
                        <a:defRPr/>
                      </a:pPr>
                      <a:r>
                        <a:rPr sz="2000" b="1">
                          <a:latin typeface="맑은 고딕"/>
                          <a:ea typeface="맑은 고딕"/>
                        </a:rPr>
                        <a:t>필요한 피처</a:t>
                      </a:r>
                      <a:endParaRPr sz="2000" b="1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 algn="ctr">
                        <a:defRPr/>
                      </a:pPr>
                      <a:r>
                        <a:rPr lang="ko-KR" altLang="en-US" sz="2000">
                          <a:latin typeface="맑은 고딕"/>
                          <a:ea typeface="맑은 고딕"/>
                        </a:rPr>
                        <a:t>SNS 추천 기반 콘텐츠 노출</a:t>
                      </a:r>
                      <a:endParaRPr lang="ko-KR" altLang="en-US" sz="2000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 algn="ctr">
                        <a:defRPr/>
                      </a:pPr>
                      <a:r>
                        <a:rPr lang="ko-KR" altLang="en-US" sz="2000">
                          <a:latin typeface="맑은 고딕"/>
                          <a:ea typeface="맑은 고딕"/>
                        </a:rPr>
                        <a:t>전문가 중심 영상 큐레이션</a:t>
                      </a:r>
                      <a:endParaRPr lang="ko-KR" altLang="en-US" sz="2000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 algn="ctr">
                        <a:defRPr/>
                      </a:pPr>
                      <a:r>
                        <a:rPr lang="ko-KR" altLang="en-US" sz="2000">
                          <a:latin typeface="맑은 고딕"/>
                          <a:ea typeface="맑은 고딕"/>
                        </a:rPr>
                        <a:t>자산 통합 대시보드 + 실시간 채팅</a:t>
                      </a:r>
                      <a:endParaRPr lang="ko-KR" altLang="en-US" sz="2000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 algn="ctr">
                        <a:defRPr/>
                      </a:pPr>
                      <a:r>
                        <a:rPr lang="ko-KR" altLang="en-US" sz="2000">
                          <a:latin typeface="맑은 고딕"/>
                          <a:ea typeface="맑은 고딕"/>
                        </a:rPr>
                        <a:t>단골 등록, 알림, 피드백 처리 상태 알림</a:t>
                      </a:r>
                      <a:endParaRPr lang="ko-KR" altLang="en-US" sz="2000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5641287"/>
      </p:ext>
    </p:extLst>
  </p:cSld>
  <p:clrMapOvr>
    <a:masterClrMapping/>
  </p:clrMapOvr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2270586" y="1902595"/>
            <a:ext cx="9635703" cy="1974419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논리적 흐름을 그리는 유저플로</a:t>
            </a:r>
            <a:br>
              <a:rPr lang="ko-KR" altLang="en-US"/>
            </a:br>
            <a:r>
              <a:rPr lang="en-US" altLang="ko-KR"/>
              <a:t>&amp;</a:t>
            </a:r>
            <a:r>
              <a:rPr lang="ko-KR" altLang="en-US"/>
              <a:t> 와이어프레임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4117217"/>
      </p:ext>
    </p:extLst>
  </p:cSld>
  <p:clrMapOvr>
    <a:masterClrMapping/>
  </p:clrMapOvr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태스크 플로</a:t>
            </a:r>
            <a:r>
              <a:rPr lang="en-US" altLang="ko-KR"/>
              <a:t>(task flow)</a:t>
            </a:r>
            <a:endParaRPr lang="en-US" altLang="ko-KR"/>
          </a:p>
        </p:txBody>
      </p:sp>
      <p:sp>
        <p:nvSpPr>
          <p:cNvPr id="3" name=""/>
          <p:cNvSpPr>
            <a:spLocks noGrp="1"/>
          </p:cNvSpPr>
          <p:nvPr>
            <p:ph idx="1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사용자가 서비스를 이용하면서 수행하는 작업과 화면의 흐름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태스크 플로는 분기나 오류를 고려하지 않고 큰 그림만 확인</a:t>
            </a:r>
            <a:endParaRPr lang="ko-KR" altLang="en-US"/>
          </a:p>
        </p:txBody>
      </p:sp>
      <p:sp>
        <p:nvSpPr>
          <p:cNvPr id="5" name="Rectangle 2"/>
          <p:cNvSpPr/>
          <p:nvPr/>
        </p:nvSpPr>
        <p:spPr>
          <a:xfrm>
            <a:off x="600438" y="2971800"/>
            <a:ext cx="3230793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sz="2400">
                <a:latin typeface="맑은 고딕"/>
                <a:ea typeface="맑은 고딕"/>
              </a:rPr>
              <a:t>앱 실행 및 로그인</a:t>
            </a:r>
            <a:endParaRPr sz="2400">
              <a:latin typeface="맑은 고딕"/>
              <a:ea typeface="맑은 고딕"/>
            </a:endParaRPr>
          </a:p>
        </p:txBody>
      </p:sp>
      <p:sp>
        <p:nvSpPr>
          <p:cNvPr id="6" name="Rectangle 3"/>
          <p:cNvSpPr/>
          <p:nvPr/>
        </p:nvSpPr>
        <p:spPr>
          <a:xfrm>
            <a:off x="4548156" y="2971800"/>
            <a:ext cx="3230793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sz="2400">
                <a:latin typeface="맑은 고딕"/>
                <a:ea typeface="맑은 고딕"/>
              </a:rPr>
              <a:t>‘자산 보기’ 메뉴 진입</a:t>
            </a:r>
            <a:endParaRPr sz="2400">
              <a:latin typeface="맑은 고딕"/>
              <a:ea typeface="맑은 고딕"/>
            </a:endParaRPr>
          </a:p>
        </p:txBody>
      </p:sp>
      <p:sp>
        <p:nvSpPr>
          <p:cNvPr id="7" name="Rectangle 4"/>
          <p:cNvSpPr/>
          <p:nvPr/>
        </p:nvSpPr>
        <p:spPr>
          <a:xfrm>
            <a:off x="8504005" y="2971800"/>
            <a:ext cx="3230793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sz="2400">
                <a:latin typeface="맑은 고딕"/>
                <a:ea typeface="맑은 고딕"/>
              </a:rPr>
              <a:t>API를 통해 외부 금융사 데이터 연동</a:t>
            </a:r>
            <a:endParaRPr sz="2400">
              <a:latin typeface="맑은 고딕"/>
              <a:ea typeface="맑은 고딕"/>
            </a:endParaRPr>
          </a:p>
        </p:txBody>
      </p:sp>
      <p:sp>
        <p:nvSpPr>
          <p:cNvPr id="11" name="Rectangle 2"/>
          <p:cNvSpPr/>
          <p:nvPr/>
        </p:nvSpPr>
        <p:spPr>
          <a:xfrm>
            <a:off x="600439" y="4529705"/>
            <a:ext cx="3230793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sz="2400"/>
              <a:t>각 계좌/자산 정보를 수집 및 처리</a:t>
            </a:r>
            <a:endParaRPr sz="2400">
              <a:latin typeface="맑은 고딕"/>
              <a:ea typeface="맑은 고딕"/>
            </a:endParaRPr>
          </a:p>
        </p:txBody>
      </p:sp>
      <p:sp>
        <p:nvSpPr>
          <p:cNvPr id="12" name="Rectangle 3"/>
          <p:cNvSpPr/>
          <p:nvPr/>
        </p:nvSpPr>
        <p:spPr>
          <a:xfrm>
            <a:off x="4529106" y="4529705"/>
            <a:ext cx="3230793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sz="2400"/>
              <a:t>모든 자산을 시각화한 통합 대시보드 렌더링</a:t>
            </a:r>
            <a:endParaRPr sz="2400">
              <a:latin typeface="맑은 고딕"/>
              <a:ea typeface="맑은 고딕"/>
            </a:endParaRPr>
          </a:p>
        </p:txBody>
      </p:sp>
      <p:sp>
        <p:nvSpPr>
          <p:cNvPr id="13" name="Rectangle 4"/>
          <p:cNvSpPr/>
          <p:nvPr/>
        </p:nvSpPr>
        <p:spPr>
          <a:xfrm>
            <a:off x="8504005" y="4529705"/>
            <a:ext cx="3230793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sz="2400"/>
              <a:t>자산 구성 그래프 및 총액 표시</a:t>
            </a:r>
            <a:endParaRPr sz="2400">
              <a:latin typeface="맑은 고딕"/>
              <a:ea typeface="맑은 고딕"/>
            </a:endParaRPr>
          </a:p>
        </p:txBody>
      </p:sp>
      <p:sp>
        <p:nvSpPr>
          <p:cNvPr id="14" name="오른쪽 화살표 13"/>
          <p:cNvSpPr/>
          <p:nvPr/>
        </p:nvSpPr>
        <p:spPr>
          <a:xfrm>
            <a:off x="3960259" y="3163626"/>
            <a:ext cx="530746" cy="530746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5" name="오른쪽 화살표 14"/>
          <p:cNvSpPr/>
          <p:nvPr/>
        </p:nvSpPr>
        <p:spPr>
          <a:xfrm>
            <a:off x="7902774" y="3163626"/>
            <a:ext cx="530746" cy="530746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6" name="오른쪽 화살표 15"/>
          <p:cNvSpPr/>
          <p:nvPr/>
        </p:nvSpPr>
        <p:spPr>
          <a:xfrm>
            <a:off x="3960259" y="4721531"/>
            <a:ext cx="530746" cy="530746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7" name="오른쪽 화살표 16"/>
          <p:cNvSpPr/>
          <p:nvPr/>
        </p:nvSpPr>
        <p:spPr>
          <a:xfrm>
            <a:off x="7902774" y="4721532"/>
            <a:ext cx="530746" cy="530746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8" name="오른쪽 화살표 17"/>
          <p:cNvSpPr/>
          <p:nvPr/>
        </p:nvSpPr>
        <p:spPr>
          <a:xfrm>
            <a:off x="19050" y="4721532"/>
            <a:ext cx="530746" cy="530746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4609042"/>
      </p:ext>
    </p:extLst>
  </p:cSld>
  <p:clrMapOvr>
    <a:masterClrMapping/>
  </p:clrMapOvr>
</p:sld>
</file>

<file path=ppt/slides/slide2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유저 플로</a:t>
            </a:r>
            <a:r>
              <a:rPr lang="en-US" altLang="ko-KR"/>
              <a:t>(User Flow)</a:t>
            </a:r>
            <a:endParaRPr lang="en-US" altLang="ko-KR"/>
          </a:p>
        </p:txBody>
      </p:sp>
      <p:sp>
        <p:nvSpPr>
          <p:cNvPr id="33" name="순서도: 판단 32"/>
          <p:cNvSpPr/>
          <p:nvPr/>
        </p:nvSpPr>
        <p:spPr>
          <a:xfrm>
            <a:off x="4607719" y="1812088"/>
            <a:ext cx="2976563" cy="2435340"/>
          </a:xfrm>
          <a:prstGeom prst="flowChartDecision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 sz="3000"/>
              <a:t>조건</a:t>
            </a:r>
            <a:endParaRPr lang="ko-KR" altLang="en-US" sz="3000"/>
          </a:p>
        </p:txBody>
      </p:sp>
      <p:sp>
        <p:nvSpPr>
          <p:cNvPr id="36" name="Rectangle 3"/>
          <p:cNvSpPr/>
          <p:nvPr/>
        </p:nvSpPr>
        <p:spPr>
          <a:xfrm>
            <a:off x="8196264" y="1812088"/>
            <a:ext cx="3217328" cy="23431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sz="2400">
                <a:latin typeface="맑은 고딕"/>
                <a:ea typeface="맑은 고딕"/>
              </a:rPr>
              <a:t>동작</a:t>
            </a:r>
            <a:r>
              <a:rPr lang="en-US" altLang="ko-KR" sz="2400">
                <a:latin typeface="맑은 고딕"/>
                <a:ea typeface="맑은 고딕"/>
              </a:rPr>
              <a:t>/</a:t>
            </a:r>
            <a:r>
              <a:rPr lang="ko-KR" altLang="en-US" sz="2400">
                <a:latin typeface="맑은 고딕"/>
                <a:ea typeface="맑은 고딕"/>
              </a:rPr>
              <a:t>프로세스</a:t>
            </a:r>
            <a:endParaRPr lang="ko-KR" altLang="en-US" sz="2400">
              <a:latin typeface="맑은 고딕"/>
              <a:ea typeface="맑은 고딕"/>
            </a:endParaRPr>
          </a:p>
        </p:txBody>
      </p:sp>
      <p:sp>
        <p:nvSpPr>
          <p:cNvPr id="37" name="순서도: 수행의 시작/종료 36"/>
          <p:cNvSpPr/>
          <p:nvPr/>
        </p:nvSpPr>
        <p:spPr>
          <a:xfrm>
            <a:off x="646184" y="2250440"/>
            <a:ext cx="3463636" cy="1558636"/>
          </a:xfrm>
          <a:prstGeom prst="flowChartTerminator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 sz="3000"/>
              <a:t>시작 </a:t>
            </a:r>
            <a:r>
              <a:rPr lang="en-US" altLang="ko-KR" sz="3000"/>
              <a:t>/</a:t>
            </a:r>
            <a:r>
              <a:rPr lang="ko-KR" altLang="en-US" sz="3000"/>
              <a:t> 끝</a:t>
            </a:r>
            <a:endParaRPr lang="ko-KR" altLang="en-US" sz="3000"/>
          </a:p>
        </p:txBody>
      </p:sp>
    </p:spTree>
    <p:extLst>
      <p:ext uri="{BB962C8B-B14F-4D97-AF65-F5344CB8AC3E}">
        <p14:creationId xmlns:p14="http://schemas.microsoft.com/office/powerpoint/2010/main" val="2195369760"/>
      </p:ext>
    </p:extLst>
  </p:cSld>
  <p:clrMapOvr>
    <a:masterClrMapping/>
  </p:clrMapOvr>
</p:sld>
</file>

<file path=ppt/slides/slide2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유저 플로</a:t>
            </a:r>
            <a:r>
              <a:rPr lang="en-US" altLang="ko-KR"/>
              <a:t>(User Flow)</a:t>
            </a:r>
            <a:endParaRPr lang="en-US" altLang="ko-KR"/>
          </a:p>
        </p:txBody>
      </p:sp>
      <p:sp>
        <p:nvSpPr>
          <p:cNvPr id="5" name="Rectangle 3"/>
          <p:cNvSpPr/>
          <p:nvPr/>
        </p:nvSpPr>
        <p:spPr>
          <a:xfrm>
            <a:off x="4376953" y="2033150"/>
            <a:ext cx="1864345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2400">
                <a:latin typeface="맑은 고딕"/>
                <a:ea typeface="맑은 고딕"/>
              </a:rPr>
              <a:t>id/pw</a:t>
            </a:r>
            <a:r>
              <a:rPr lang="ko-KR" altLang="en-US" sz="2400">
                <a:latin typeface="맑은 고딕"/>
                <a:ea typeface="맑은 고딕"/>
              </a:rPr>
              <a:t> 입력</a:t>
            </a:r>
            <a:endParaRPr lang="ko-KR" altLang="en-US" sz="2400">
              <a:latin typeface="맑은 고딕"/>
              <a:ea typeface="맑은 고딕"/>
            </a:endParaRPr>
          </a:p>
        </p:txBody>
      </p:sp>
      <p:sp>
        <p:nvSpPr>
          <p:cNvPr id="9" name="순서도: 수행의 시작/종료 8"/>
          <p:cNvSpPr/>
          <p:nvPr/>
        </p:nvSpPr>
        <p:spPr>
          <a:xfrm>
            <a:off x="1727199" y="2092464"/>
            <a:ext cx="2021970" cy="855085"/>
          </a:xfrm>
          <a:prstGeom prst="flowChartTerminator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/>
              <a:t>랜딩페이지 오픈</a:t>
            </a:r>
            <a:endParaRPr lang="ko-KR" altLang="en-US"/>
          </a:p>
        </p:txBody>
      </p:sp>
      <p:sp>
        <p:nvSpPr>
          <p:cNvPr id="10" name="순서도: 판단 9"/>
          <p:cNvSpPr/>
          <p:nvPr/>
        </p:nvSpPr>
        <p:spPr>
          <a:xfrm>
            <a:off x="6886575" y="1673991"/>
            <a:ext cx="2359602" cy="1692032"/>
          </a:xfrm>
          <a:prstGeom prst="flowChartDecision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en-US" altLang="ko-KR"/>
              <a:t>DB</a:t>
            </a:r>
            <a:r>
              <a:rPr lang="ko-KR" altLang="en-US"/>
              <a:t>에 존재하고 일치하는가</a:t>
            </a:r>
            <a:r>
              <a:rPr lang="en-US" altLang="ko-KR"/>
              <a:t>?</a:t>
            </a:r>
            <a:endParaRPr lang="en-US" altLang="ko-KR"/>
          </a:p>
        </p:txBody>
      </p:sp>
      <p:cxnSp>
        <p:nvCxnSpPr>
          <p:cNvPr id="11" name="화살표 10"/>
          <p:cNvCxnSpPr>
            <a:stCxn id="9" idx="3"/>
          </p:cNvCxnSpPr>
          <p:nvPr/>
        </p:nvCxnSpPr>
        <p:spPr>
          <a:xfrm>
            <a:off x="3749169" y="2520007"/>
            <a:ext cx="627783" cy="0"/>
          </a:xfrm>
          <a:prstGeom prst="straightConnector1">
            <a:avLst/>
          </a:prstGeom>
          <a:ln w="3810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화살표 12"/>
          <p:cNvCxnSpPr/>
          <p:nvPr/>
        </p:nvCxnSpPr>
        <p:spPr>
          <a:xfrm>
            <a:off x="6241299" y="2520007"/>
            <a:ext cx="627783" cy="0"/>
          </a:xfrm>
          <a:prstGeom prst="straightConnector1">
            <a:avLst/>
          </a:prstGeom>
          <a:ln w="3810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화살표 13"/>
          <p:cNvCxnSpPr/>
          <p:nvPr/>
        </p:nvCxnSpPr>
        <p:spPr>
          <a:xfrm>
            <a:off x="9246178" y="2520007"/>
            <a:ext cx="627783" cy="0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3"/>
          <p:cNvSpPr/>
          <p:nvPr/>
        </p:nvSpPr>
        <p:spPr>
          <a:xfrm>
            <a:off x="9873961" y="2033150"/>
            <a:ext cx="1864345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sz="2400">
                <a:latin typeface="맑은 고딕"/>
                <a:ea typeface="맑은 고딕"/>
              </a:rPr>
              <a:t>로그인성공</a:t>
            </a:r>
            <a:endParaRPr lang="ko-KR" altLang="en-US" sz="2400">
              <a:latin typeface="맑은 고딕"/>
              <a:ea typeface="맑은 고딕"/>
            </a:endParaRPr>
          </a:p>
        </p:txBody>
      </p:sp>
      <p:sp>
        <p:nvSpPr>
          <p:cNvPr id="18" name="Rectangle 3"/>
          <p:cNvSpPr/>
          <p:nvPr/>
        </p:nvSpPr>
        <p:spPr>
          <a:xfrm>
            <a:off x="9873962" y="4086869"/>
            <a:ext cx="1864345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sz="2400">
                <a:latin typeface="맑은 고딕"/>
                <a:ea typeface="맑은 고딕"/>
              </a:rPr>
              <a:t>자산보기 메뉴 클릭</a:t>
            </a:r>
            <a:endParaRPr lang="ko-KR" altLang="en-US" sz="2400">
              <a:latin typeface="맑은 고딕"/>
              <a:ea typeface="맑은 고딕"/>
            </a:endParaRPr>
          </a:p>
        </p:txBody>
      </p:sp>
      <p:cxnSp>
        <p:nvCxnSpPr>
          <p:cNvPr id="19" name="화살표 18"/>
          <p:cNvCxnSpPr>
            <a:endCxn id="18" idx="0"/>
          </p:cNvCxnSpPr>
          <p:nvPr/>
        </p:nvCxnSpPr>
        <p:spPr>
          <a:xfrm rot="16200000" flipH="1">
            <a:off x="10241237" y="3521972"/>
            <a:ext cx="1129795" cy="0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순서도: 판단 19"/>
          <p:cNvSpPr/>
          <p:nvPr/>
        </p:nvSpPr>
        <p:spPr>
          <a:xfrm>
            <a:off x="6886575" y="3698053"/>
            <a:ext cx="2359602" cy="1692032"/>
          </a:xfrm>
          <a:prstGeom prst="flowChartDecision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/>
              <a:t>외부금융기관 연동 동의가 있는가</a:t>
            </a:r>
            <a:r>
              <a:rPr lang="en-US" altLang="ko-KR"/>
              <a:t>?</a:t>
            </a:r>
            <a:endParaRPr lang="en-US" altLang="ko-KR"/>
          </a:p>
        </p:txBody>
      </p:sp>
      <p:cxnSp>
        <p:nvCxnSpPr>
          <p:cNvPr id="21" name="화살표 20"/>
          <p:cNvCxnSpPr/>
          <p:nvPr/>
        </p:nvCxnSpPr>
        <p:spPr>
          <a:xfrm rot="10800000">
            <a:off x="9262410" y="4544070"/>
            <a:ext cx="611552" cy="2"/>
          </a:xfrm>
          <a:prstGeom prst="straightConnector1">
            <a:avLst/>
          </a:prstGeom>
          <a:ln w="3810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화살표 21"/>
          <p:cNvCxnSpPr/>
          <p:nvPr/>
        </p:nvCxnSpPr>
        <p:spPr>
          <a:xfrm rot="10800000">
            <a:off x="6275023" y="4544067"/>
            <a:ext cx="611552" cy="2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3"/>
          <p:cNvSpPr/>
          <p:nvPr/>
        </p:nvSpPr>
        <p:spPr>
          <a:xfrm>
            <a:off x="4376953" y="4086872"/>
            <a:ext cx="1864345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2400">
                <a:latin typeface="맑은 고딕"/>
                <a:ea typeface="맑은 고딕"/>
              </a:rPr>
              <a:t>api</a:t>
            </a:r>
            <a:r>
              <a:rPr lang="ko-KR" altLang="en-US" sz="2400">
                <a:latin typeface="맑은 고딕"/>
                <a:ea typeface="맑은 고딕"/>
              </a:rPr>
              <a:t> 연동 및 자료 수집</a:t>
            </a:r>
            <a:endParaRPr lang="ko-KR" altLang="en-US" sz="2400">
              <a:latin typeface="맑은 고딕"/>
              <a:ea typeface="맑은 고딕"/>
            </a:endParaRPr>
          </a:p>
        </p:txBody>
      </p:sp>
      <p:cxnSp>
        <p:nvCxnSpPr>
          <p:cNvPr id="24" name="화살표 23"/>
          <p:cNvCxnSpPr/>
          <p:nvPr/>
        </p:nvCxnSpPr>
        <p:spPr>
          <a:xfrm rot="10800000">
            <a:off x="2974826" y="4544072"/>
            <a:ext cx="611552" cy="2"/>
          </a:xfrm>
          <a:prstGeom prst="straightConnector1">
            <a:avLst/>
          </a:prstGeom>
          <a:ln w="3810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3"/>
          <p:cNvSpPr/>
          <p:nvPr/>
        </p:nvSpPr>
        <p:spPr>
          <a:xfrm>
            <a:off x="1533044" y="4086875"/>
            <a:ext cx="2232357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sz="2400">
                <a:latin typeface="맑은 고딕"/>
                <a:ea typeface="맑은 고딕"/>
              </a:rPr>
              <a:t>자산데이터 가공 및 분석</a:t>
            </a:r>
            <a:endParaRPr lang="ko-KR" altLang="en-US" sz="2400">
              <a:latin typeface="맑은 고딕"/>
              <a:ea typeface="맑은 고딕"/>
            </a:endParaRPr>
          </a:p>
        </p:txBody>
      </p:sp>
      <p:cxnSp>
        <p:nvCxnSpPr>
          <p:cNvPr id="26" name="화살표 25"/>
          <p:cNvCxnSpPr>
            <a:stCxn id="25" idx="2"/>
          </p:cNvCxnSpPr>
          <p:nvPr/>
        </p:nvCxnSpPr>
        <p:spPr>
          <a:xfrm rot="16200000" flipH="1" flipV="1">
            <a:off x="2395727" y="5254770"/>
            <a:ext cx="506990" cy="0"/>
          </a:xfrm>
          <a:prstGeom prst="straightConnector1">
            <a:avLst/>
          </a:prstGeom>
          <a:ln w="3810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3"/>
          <p:cNvSpPr/>
          <p:nvPr/>
        </p:nvSpPr>
        <p:spPr>
          <a:xfrm>
            <a:off x="1040562" y="5508265"/>
            <a:ext cx="2708607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sz="2400">
                <a:latin typeface="맑은 고딕"/>
                <a:ea typeface="맑은 고딕"/>
              </a:rPr>
              <a:t>자산통합 대시보드 랜더링</a:t>
            </a:r>
            <a:endParaRPr lang="ko-KR" altLang="en-US" sz="2400">
              <a:latin typeface="맑은 고딕"/>
              <a:ea typeface="맑은 고딕"/>
            </a:endParaRPr>
          </a:p>
        </p:txBody>
      </p:sp>
      <p:sp>
        <p:nvSpPr>
          <p:cNvPr id="28" name="Rectangle 3"/>
          <p:cNvSpPr/>
          <p:nvPr/>
        </p:nvSpPr>
        <p:spPr>
          <a:xfrm>
            <a:off x="7134203" y="5943600"/>
            <a:ext cx="1864345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sz="2000">
                <a:latin typeface="맑은 고딕"/>
                <a:ea typeface="맑은 고딕"/>
              </a:rPr>
              <a:t>동의화면으로 이동 및 동의</a:t>
            </a:r>
            <a:endParaRPr lang="ko-KR" altLang="en-US" sz="2000">
              <a:latin typeface="맑은 고딕"/>
              <a:ea typeface="맑은 고딕"/>
            </a:endParaRPr>
          </a:p>
        </p:txBody>
      </p:sp>
      <p:cxnSp>
        <p:nvCxnSpPr>
          <p:cNvPr id="29" name="화살표 28"/>
          <p:cNvCxnSpPr>
            <a:stCxn id="20" idx="2"/>
            <a:endCxn id="28" idx="0"/>
          </p:cNvCxnSpPr>
          <p:nvPr/>
        </p:nvCxnSpPr>
        <p:spPr>
          <a:xfrm rot="16200000" flipH="1">
            <a:off x="7789619" y="5666843"/>
            <a:ext cx="553514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양방향 화살표 29"/>
          <p:cNvCxnSpPr>
            <a:stCxn id="28" idx="1"/>
            <a:endCxn id="23" idx="2"/>
          </p:cNvCxnSpPr>
          <p:nvPr/>
        </p:nvCxnSpPr>
        <p:spPr>
          <a:xfrm flipH="1" flipV="1">
            <a:off x="5309126" y="5001272"/>
            <a:ext cx="1825076" cy="1399530"/>
          </a:xfrm>
          <a:prstGeom prst="bentConnector2">
            <a:avLst/>
          </a:prstGeom>
          <a:ln w="3810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화살표 31"/>
          <p:cNvCxnSpPr>
            <a:stCxn id="10" idx="0"/>
            <a:endCxn id="33" idx="2"/>
          </p:cNvCxnSpPr>
          <p:nvPr/>
        </p:nvCxnSpPr>
        <p:spPr>
          <a:xfrm rot="16200000">
            <a:off x="7824678" y="1432293"/>
            <a:ext cx="483395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순서도: 판단 32"/>
          <p:cNvSpPr/>
          <p:nvPr/>
        </p:nvSpPr>
        <p:spPr>
          <a:xfrm>
            <a:off x="7097640" y="0"/>
            <a:ext cx="1937472" cy="1190595"/>
          </a:xfrm>
          <a:prstGeom prst="flowChartDecision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en-US" altLang="ko-KR"/>
              <a:t>DB</a:t>
            </a:r>
            <a:r>
              <a:rPr lang="ko-KR" altLang="en-US"/>
              <a:t>에 존재하는가</a:t>
            </a:r>
            <a:r>
              <a:rPr lang="en-US" altLang="ko-KR"/>
              <a:t>?</a:t>
            </a:r>
            <a:endParaRPr lang="en-US" altLang="ko-KR"/>
          </a:p>
        </p:txBody>
      </p:sp>
      <p:cxnSp>
        <p:nvCxnSpPr>
          <p:cNvPr id="34" name="양방향 화살표 33"/>
          <p:cNvCxnSpPr>
            <a:stCxn id="33" idx="1"/>
            <a:endCxn id="5" idx="0"/>
          </p:cNvCxnSpPr>
          <p:nvPr/>
        </p:nvCxnSpPr>
        <p:spPr>
          <a:xfrm flipH="1">
            <a:off x="5309126" y="595309"/>
            <a:ext cx="1788514" cy="1437841"/>
          </a:xfrm>
          <a:prstGeom prst="bentConnector2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화살표 34"/>
          <p:cNvCxnSpPr>
            <a:stCxn id="33" idx="3"/>
          </p:cNvCxnSpPr>
          <p:nvPr/>
        </p:nvCxnSpPr>
        <p:spPr>
          <a:xfrm flipV="1">
            <a:off x="9035113" y="593694"/>
            <a:ext cx="838848" cy="1603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"/>
          <p:cNvSpPr/>
          <p:nvPr/>
        </p:nvSpPr>
        <p:spPr>
          <a:xfrm>
            <a:off x="9873962" y="138109"/>
            <a:ext cx="1864345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sz="2400">
                <a:latin typeface="맑은 고딕"/>
                <a:ea typeface="맑은 고딕"/>
              </a:rPr>
              <a:t>회원가입페이지로 이동</a:t>
            </a:r>
            <a:endParaRPr lang="ko-KR" altLang="en-US" sz="2400"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875163944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교차">
  <a:themeElements>
    <a:clrScheme name="교차">
      <a:dk1>
        <a:srgbClr val="264c72"/>
      </a:dk1>
      <a:lt1>
        <a:srgbClr val="ffffff"/>
      </a:lt1>
      <a:dk2>
        <a:srgbClr val="347775"/>
      </a:dk2>
      <a:lt2>
        <a:srgbClr val="d7d7d7"/>
      </a:lt2>
      <a:accent1>
        <a:srgbClr val="63a6a4"/>
      </a:accent1>
      <a:accent2>
        <a:srgbClr val="323232"/>
      </a:accent2>
      <a:accent3>
        <a:srgbClr val="9d9c9c"/>
      </a:accent3>
      <a:accent4>
        <a:srgbClr val="c1c0c0"/>
      </a:accent4>
      <a:accent5>
        <a:srgbClr val="e5e4e4"/>
      </a:accent5>
      <a:accent6>
        <a:srgbClr val="716340"/>
      </a:accent6>
      <a:hlink>
        <a:srgbClr val="4a45ff"/>
      </a:hlink>
      <a:folHlink>
        <a:srgbClr val="be27bb"/>
      </a:folHlink>
    </a:clrScheme>
    <a:fontScheme name="교차">
      <a:majorFont>
        <a:latin typeface="Arial"/>
        <a:ea typeface=""/>
        <a:cs typeface=""/>
        <a:font script="Jpan" typeface="MS PGothic"/>
        <a:font script="Hang" typeface="한컴 윤고딕 240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MS PGothic"/>
        <a:font script="Hang" typeface="한컴 윤고딕 230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교차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path path="rect">
            <a:fillToRect l="100000" t="100000" r="100000" b="100000"/>
          </a:path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reflection blurRad="12700" stA="26000" endPos="28000" dist="381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hueMod val="100000"/>
                <a:satMod val="100000"/>
              </a:schemeClr>
            </a:gs>
            <a:gs pos="100000">
              <a:schemeClr val="phClr">
                <a:shade val="30000"/>
                <a:satMod val="8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100000"/>
                <a:satMod val="100000"/>
              </a:schemeClr>
            </a:gs>
            <a:gs pos="100000">
              <a:schemeClr val="phClr">
                <a:shade val="50000"/>
                <a:satMod val="7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555</ep:Words>
  <ep:PresentationFormat>와이드스크린(16:9)</ep:PresentationFormat>
  <ep:Paragraphs>144</ep:Paragraphs>
  <ep:Slides>26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ep:HeadingPairs>
  <ep:TitlesOfParts>
    <vt:vector size="27" baseType="lpstr">
      <vt:lpstr>교차</vt:lpstr>
      <vt:lpstr>핀테크 사용자 인사이트 분석  및 사용자 여정 지도</vt:lpstr>
      <vt:lpstr>핀테크 앱 사용자에 대한 주요 인사이트</vt:lpstr>
      <vt:lpstr>핀테크 앱 사용자에 대한 주요 인사이트</vt:lpstr>
      <vt:lpstr>Pain Points &amp; Needs</vt:lpstr>
      <vt:lpstr>Pain Points &amp; Needs</vt:lpstr>
      <vt:lpstr>고객 여정맵 요약</vt:lpstr>
      <vt:lpstr>고객 여정맵 요약</vt:lpstr>
      <vt:lpstr>페르소나 - 박지현</vt:lpstr>
      <vt:lpstr>페르소나 - 박지현</vt:lpstr>
      <vt:lpstr>페르소나 - 박지현</vt:lpstr>
      <vt:lpstr>User Stories (Persona: 박지현)</vt:lpstr>
      <vt:lpstr>Gherkin 시나리오 (박지현 중심 설계)</vt:lpstr>
      <vt:lpstr>Gherkin 시나리오 (박지현 중심 설계)</vt:lpstr>
      <vt:lpstr>Gherkin 시나리오 (박지현 중심 설계)</vt:lpstr>
      <vt:lpstr>Gherkin 시나리오 (박지현 중심 설계)</vt:lpstr>
      <vt:lpstr>Gherkin 시나리오 (박지현 중심 설계)</vt:lpstr>
      <vt:lpstr>기능 정의 (박지현 니즈 기반)</vt:lpstr>
      <vt:lpstr>API 설계 예시</vt:lpstr>
      <vt:lpstr>전략 요약</vt:lpstr>
      <vt:lpstr>사용자 여정 지도</vt:lpstr>
      <vt:lpstr>사용자 여정 지도란?</vt:lpstr>
      <vt:lpstr>사용자 여정 지도</vt:lpstr>
      <vt:lpstr>논리적 흐름을 그리는 유저플로 &amp; 와이어프레임</vt:lpstr>
      <vt:lpstr>태스크 플로(task flow)</vt:lpstr>
      <vt:lpstr>유저 플로(User Flow)</vt:lpstr>
      <vt:lpstr>유저 플로(User Flow)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2013-01-27T09:14:16.000</dcterms:created>
  <dc:description>generated using python-pptx</dc:description>
  <cp:lastModifiedBy>haram</cp:lastModifiedBy>
  <dcterms:modified xsi:type="dcterms:W3CDTF">2025-12-08T05:45:01.551</dcterms:modified>
  <cp:revision>57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